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339" r:id="rId2"/>
    <p:sldId id="364" r:id="rId3"/>
    <p:sldId id="367" r:id="rId4"/>
    <p:sldId id="368" r:id="rId5"/>
    <p:sldId id="369" r:id="rId6"/>
    <p:sldId id="365" r:id="rId7"/>
    <p:sldId id="381" r:id="rId8"/>
    <p:sldId id="374" r:id="rId9"/>
    <p:sldId id="375" r:id="rId10"/>
    <p:sldId id="379" r:id="rId11"/>
    <p:sldId id="380" r:id="rId12"/>
    <p:sldId id="382" r:id="rId13"/>
    <p:sldId id="372" r:id="rId14"/>
    <p:sldId id="376" r:id="rId15"/>
    <p:sldId id="377" r:id="rId16"/>
    <p:sldId id="366" r:id="rId17"/>
    <p:sldId id="355" r:id="rId18"/>
    <p:sldId id="371" r:id="rId19"/>
    <p:sldId id="340" r:id="rId20"/>
    <p:sldId id="353" r:id="rId21"/>
  </p:sldIdLst>
  <p:sldSz cx="12192000" cy="6858000"/>
  <p:notesSz cx="6858000" cy="9144000"/>
  <p:embeddedFontLst>
    <p:embeddedFont>
      <p:font typeface="Open Sans" panose="020B0606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1cbSvB/jbFkGRkzklgg1zjCXx3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82"/>
    <p:restoredTop sz="94658"/>
  </p:normalViewPr>
  <p:slideViewPr>
    <p:cSldViewPr snapToGrid="0" snapToObjects="1">
      <p:cViewPr varScale="1">
        <p:scale>
          <a:sx n="120" d="100"/>
          <a:sy n="120" d="100"/>
        </p:scale>
        <p:origin x="12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9673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cb75745b90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cb75745b90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1313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cb75745b90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cb75745b90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0246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8"/>
        <p:cNvGrpSpPr/>
        <p:nvPr/>
      </p:nvGrpSpPr>
      <p:grpSpPr>
        <a:xfrm>
          <a:off x="0" y="0"/>
          <a:ext cx="0" cy="0"/>
          <a:chOff x="0" y="0"/>
          <a:chExt cx="0" cy="0"/>
        </a:xfrm>
      </p:grpSpPr>
      <p:sp>
        <p:nvSpPr>
          <p:cNvPr id="19" name="Google Shape;19;p29"/>
          <p:cNvSpPr/>
          <p:nvPr/>
        </p:nvSpPr>
        <p:spPr>
          <a:xfrm>
            <a:off x="0" y="0"/>
            <a:ext cx="12192000" cy="6858000"/>
          </a:xfrm>
          <a:prstGeom prst="rect">
            <a:avLst/>
          </a:prstGeom>
          <a:solidFill>
            <a:srgbClr val="0151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29"/>
          <p:cNvSpPr txBox="1">
            <a:spLocks noGrp="1"/>
          </p:cNvSpPr>
          <p:nvPr>
            <p:ph type="subTitle" idx="1"/>
          </p:nvPr>
        </p:nvSpPr>
        <p:spPr>
          <a:xfrm>
            <a:off x="5465763" y="2861288"/>
            <a:ext cx="3932017" cy="48228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b="0" i="0">
                <a:solidFill>
                  <a:schemeClr val="lt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29"/>
          <p:cNvSpPr txBox="1">
            <a:spLocks noGrp="1"/>
          </p:cNvSpPr>
          <p:nvPr>
            <p:ph type="body" idx="2"/>
          </p:nvPr>
        </p:nvSpPr>
        <p:spPr>
          <a:xfrm>
            <a:off x="5465532" y="3343570"/>
            <a:ext cx="3931977" cy="546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None/>
              <a:defRPr sz="1800" b="0"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9"/>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u="none" strike="noStrike" cap="none">
                <a:solidFill>
                  <a:schemeClr val="lt1"/>
                </a:solidFill>
                <a:latin typeface="Open Sans"/>
                <a:ea typeface="Open Sans"/>
                <a:cs typeface="Open Sans"/>
                <a:sym typeface="Open Sans"/>
              </a:rPr>
              <a:t>‹#›</a:t>
            </a:fld>
            <a:endParaRPr sz="800" b="0" i="0" u="none" strike="noStrike" cap="none">
              <a:solidFill>
                <a:schemeClr val="lt1"/>
              </a:solidFill>
              <a:latin typeface="Open Sans"/>
              <a:ea typeface="Open Sans"/>
              <a:cs typeface="Open Sans"/>
              <a:sym typeface="Open Sans"/>
            </a:endParaRPr>
          </a:p>
        </p:txBody>
      </p:sp>
      <p:pic>
        <p:nvPicPr>
          <p:cNvPr id="23" name="Google Shape;23;p29"/>
          <p:cNvPicPr preferRelativeResize="0"/>
          <p:nvPr/>
        </p:nvPicPr>
        <p:blipFill rotWithShape="1">
          <a:blip r:embed="rId2">
            <a:alphaModFix/>
          </a:blip>
          <a:srcRect/>
          <a:stretch/>
        </p:blipFill>
        <p:spPr>
          <a:xfrm>
            <a:off x="2015219" y="2537120"/>
            <a:ext cx="2830042" cy="1612900"/>
          </a:xfrm>
          <a:prstGeom prst="rect">
            <a:avLst/>
          </a:prstGeom>
          <a:noFill/>
          <a:ln>
            <a:noFill/>
          </a:ln>
        </p:spPr>
      </p:pic>
      <p:sp>
        <p:nvSpPr>
          <p:cNvPr id="24" name="Google Shape;24;p29"/>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800"/>
              <a:buFont typeface="Calibri"/>
              <a:buNone/>
            </a:pPr>
            <a:r>
              <a:rPr lang="da-DK" sz="800" b="0" i="0" u="none" strike="noStrike" cap="none">
                <a:solidFill>
                  <a:schemeClr val="lt1"/>
                </a:solidFill>
                <a:latin typeface="Calibri"/>
                <a:ea typeface="Calibri"/>
                <a:cs typeface="Calibri"/>
                <a:sym typeface="Calibri"/>
              </a:rPr>
              <a:t>Proprietary and confidential</a:t>
            </a:r>
            <a:endParaRPr sz="1800" b="0" i="0" u="none" strike="noStrike" cap="none">
              <a:solidFill>
                <a:schemeClr val="lt1"/>
              </a:solidFill>
              <a:latin typeface="Calibri"/>
              <a:ea typeface="Calibri"/>
              <a:cs typeface="Calibri"/>
              <a:sym typeface="Calibri"/>
            </a:endParaRPr>
          </a:p>
        </p:txBody>
      </p:sp>
      <p:sp>
        <p:nvSpPr>
          <p:cNvPr id="25" name="Google Shape;25;p29"/>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u="none" strike="noStrike" cap="none">
                <a:solidFill>
                  <a:schemeClr val="lt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Graphic">
  <p:cSld name="Graphic">
    <p:spTree>
      <p:nvGrpSpPr>
        <p:cNvPr id="1" name="Shape 38"/>
        <p:cNvGrpSpPr/>
        <p:nvPr/>
      </p:nvGrpSpPr>
      <p:grpSpPr>
        <a:xfrm>
          <a:off x="0" y="0"/>
          <a:ext cx="0" cy="0"/>
          <a:chOff x="0" y="0"/>
          <a:chExt cx="0" cy="0"/>
        </a:xfrm>
      </p:grpSpPr>
      <p:sp>
        <p:nvSpPr>
          <p:cNvPr id="39" name="Google Shape;39;p32"/>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u="none" strike="noStrike" cap="none">
                <a:solidFill>
                  <a:schemeClr val="dk1"/>
                </a:solidFill>
                <a:latin typeface="Open Sans"/>
                <a:ea typeface="Open Sans"/>
                <a:cs typeface="Open Sans"/>
                <a:sym typeface="Open Sans"/>
              </a:rPr>
              <a:t>‹#›</a:t>
            </a:fld>
            <a:endParaRPr sz="800" b="0" i="0" u="none" strike="noStrike" cap="none">
              <a:solidFill>
                <a:schemeClr val="dk1"/>
              </a:solidFill>
              <a:latin typeface="Open Sans"/>
              <a:ea typeface="Open Sans"/>
              <a:cs typeface="Open Sans"/>
              <a:sym typeface="Open Sans"/>
            </a:endParaRPr>
          </a:p>
        </p:txBody>
      </p:sp>
      <p:sp>
        <p:nvSpPr>
          <p:cNvPr id="40" name="Google Shape;40;p32"/>
          <p:cNvSpPr txBox="1">
            <a:spLocks noGrp="1"/>
          </p:cNvSpPr>
          <p:nvPr>
            <p:ph type="title"/>
          </p:nvPr>
        </p:nvSpPr>
        <p:spPr>
          <a:xfrm>
            <a:off x="197875" y="220060"/>
            <a:ext cx="10515600" cy="10989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15171"/>
              </a:buClr>
              <a:buSzPts val="3200"/>
              <a:buFont typeface="Calibri"/>
              <a:buNone/>
              <a:defRPr sz="3200" b="0" i="0">
                <a:solidFill>
                  <a:srgbClr val="01517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2"/>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15171"/>
              </a:buClr>
              <a:buSzPts val="800"/>
              <a:buFont typeface="Calibri"/>
              <a:buNone/>
            </a:pPr>
            <a:r>
              <a:rPr lang="da-DK" sz="800" b="0" i="0" u="none" strike="noStrike" cap="none">
                <a:solidFill>
                  <a:srgbClr val="015171"/>
                </a:solidFill>
                <a:latin typeface="Calibri"/>
                <a:ea typeface="Calibri"/>
                <a:cs typeface="Calibri"/>
                <a:sym typeface="Calibri"/>
              </a:rPr>
              <a:t>Proprietary and confidential</a:t>
            </a:r>
            <a:endParaRPr sz="1800" b="0" i="0" u="none" strike="noStrike" cap="none">
              <a:solidFill>
                <a:srgbClr val="015171"/>
              </a:solidFill>
              <a:latin typeface="Calibri"/>
              <a:ea typeface="Calibri"/>
              <a:cs typeface="Calibri"/>
              <a:sym typeface="Calibri"/>
            </a:endParaRPr>
          </a:p>
        </p:txBody>
      </p:sp>
      <p:pic>
        <p:nvPicPr>
          <p:cNvPr id="42" name="Google Shape;42;p32"/>
          <p:cNvPicPr preferRelativeResize="0"/>
          <p:nvPr/>
        </p:nvPicPr>
        <p:blipFill rotWithShape="1">
          <a:blip r:embed="rId2">
            <a:alphaModFix/>
          </a:blip>
          <a:srcRect/>
          <a:stretch/>
        </p:blipFill>
        <p:spPr>
          <a:xfrm>
            <a:off x="10256988" y="220060"/>
            <a:ext cx="1737137" cy="976178"/>
          </a:xfrm>
          <a:prstGeom prst="rect">
            <a:avLst/>
          </a:prstGeom>
          <a:noFill/>
          <a:ln>
            <a:noFill/>
          </a:ln>
        </p:spPr>
      </p:pic>
      <p:sp>
        <p:nvSpPr>
          <p:cNvPr id="43" name="Google Shape;43;p32"/>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u="none" strike="noStrike" cap="none">
                <a:solidFill>
                  <a:schemeClr val="dk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7"/>
        <p:cNvGrpSpPr/>
        <p:nvPr/>
      </p:nvGrpSpPr>
      <p:grpSpPr>
        <a:xfrm>
          <a:off x="0" y="0"/>
          <a:ext cx="0" cy="0"/>
          <a:chOff x="0" y="0"/>
          <a:chExt cx="0" cy="0"/>
        </a:xfrm>
      </p:grpSpPr>
      <p:sp>
        <p:nvSpPr>
          <p:cNvPr id="108" name="Google Shape;108;p40"/>
          <p:cNvSpPr txBox="1"/>
          <p:nvPr/>
        </p:nvSpPr>
        <p:spPr>
          <a:xfrm>
            <a:off x="3326205" y="2612571"/>
            <a:ext cx="5539589"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a-DK" sz="2800">
                <a:solidFill>
                  <a:schemeClr val="accent6"/>
                </a:solidFill>
                <a:latin typeface="Calibri"/>
                <a:ea typeface="Calibri"/>
                <a:cs typeface="Calibri"/>
                <a:sym typeface="Calibri"/>
              </a:rPr>
              <a:t>Title slide section</a:t>
            </a:r>
            <a:endParaRPr sz="2800">
              <a:solidFill>
                <a:schemeClr val="accent6"/>
              </a:solidFill>
              <a:latin typeface="Calibri"/>
              <a:ea typeface="Calibri"/>
              <a:cs typeface="Calibri"/>
              <a:sym typeface="Calibri"/>
            </a:endParaRPr>
          </a:p>
          <a:p>
            <a:pPr marL="0" marR="0" lvl="0" indent="0" algn="ctr" rtl="0">
              <a:spcBef>
                <a:spcPts val="0"/>
              </a:spcBef>
              <a:spcAft>
                <a:spcPts val="0"/>
              </a:spcAft>
              <a:buNone/>
            </a:pPr>
            <a:r>
              <a:rPr lang="da-DK" sz="2800">
                <a:solidFill>
                  <a:schemeClr val="accent6"/>
                </a:solidFill>
                <a:latin typeface="Calibri"/>
                <a:ea typeface="Calibri"/>
                <a:cs typeface="Calibri"/>
                <a:sym typeface="Calibri"/>
              </a:rPr>
              <a:t>This slide is not for use</a:t>
            </a:r>
            <a:endParaRPr sz="2800">
              <a:solidFill>
                <a:schemeClr val="accent6"/>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109"/>
        <p:cNvGrpSpPr/>
        <p:nvPr/>
      </p:nvGrpSpPr>
      <p:grpSpPr>
        <a:xfrm>
          <a:off x="0" y="0"/>
          <a:ext cx="0" cy="0"/>
          <a:chOff x="0" y="0"/>
          <a:chExt cx="0" cy="0"/>
        </a:xfrm>
      </p:grpSpPr>
      <p:sp>
        <p:nvSpPr>
          <p:cNvPr id="110" name="Google Shape;110;p41"/>
          <p:cNvSpPr txBox="1">
            <a:spLocks noGrp="1"/>
          </p:cNvSpPr>
          <p:nvPr>
            <p:ph type="title"/>
          </p:nvPr>
        </p:nvSpPr>
        <p:spPr>
          <a:xfrm>
            <a:off x="197875" y="220060"/>
            <a:ext cx="10515600" cy="10989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15171"/>
              </a:buClr>
              <a:buSzPts val="3200"/>
              <a:buFont typeface="Calibri"/>
              <a:buNone/>
              <a:defRPr sz="3200" b="0" i="0">
                <a:solidFill>
                  <a:srgbClr val="01517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41"/>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rgbClr val="A5A5A5"/>
                </a:solidFill>
                <a:latin typeface="Open Sans"/>
                <a:ea typeface="Open Sans"/>
                <a:cs typeface="Open Sans"/>
                <a:sym typeface="Open Sans"/>
              </a:rPr>
              <a:t>‹#›</a:t>
            </a:fld>
            <a:endParaRPr sz="800" b="0" i="0">
              <a:solidFill>
                <a:srgbClr val="A5A5A5"/>
              </a:solidFill>
              <a:latin typeface="Open Sans"/>
              <a:ea typeface="Open Sans"/>
              <a:cs typeface="Open Sans"/>
              <a:sym typeface="Open Sans"/>
            </a:endParaRPr>
          </a:p>
        </p:txBody>
      </p:sp>
      <p:pic>
        <p:nvPicPr>
          <p:cNvPr id="112" name="Google Shape;112;p41"/>
          <p:cNvPicPr preferRelativeResize="0"/>
          <p:nvPr/>
        </p:nvPicPr>
        <p:blipFill rotWithShape="1">
          <a:blip r:embed="rId2">
            <a:alphaModFix/>
          </a:blip>
          <a:srcRect/>
          <a:stretch/>
        </p:blipFill>
        <p:spPr>
          <a:xfrm>
            <a:off x="10256988" y="220060"/>
            <a:ext cx="1737137" cy="976178"/>
          </a:xfrm>
          <a:prstGeom prst="rect">
            <a:avLst/>
          </a:prstGeom>
          <a:noFill/>
          <a:ln>
            <a:noFill/>
          </a:ln>
        </p:spPr>
      </p:pic>
      <p:sp>
        <p:nvSpPr>
          <p:cNvPr id="113" name="Google Shape;113;p41"/>
          <p:cNvSpPr txBox="1">
            <a:spLocks noGrp="1"/>
          </p:cNvSpPr>
          <p:nvPr>
            <p:ph type="body" idx="1"/>
          </p:nvPr>
        </p:nvSpPr>
        <p:spPr>
          <a:xfrm>
            <a:off x="2683668" y="2460049"/>
            <a:ext cx="6824663" cy="2678112"/>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Font typeface="Calibri"/>
              <a:buNone/>
              <a:defRPr sz="4000">
                <a:solidFill>
                  <a:schemeClr val="dk1"/>
                </a:solidFill>
              </a:defRPr>
            </a:lvl1pPr>
            <a:lvl2pPr marL="914400" lvl="1" indent="-228600" algn="l">
              <a:lnSpc>
                <a:spcPct val="90000"/>
              </a:lnSpc>
              <a:spcBef>
                <a:spcPts val="500"/>
              </a:spcBef>
              <a:spcAft>
                <a:spcPts val="0"/>
              </a:spcAft>
              <a:buClr>
                <a:schemeClr val="dk1"/>
              </a:buClr>
              <a:buSzPts val="2400"/>
              <a:buFont typeface="Calibri"/>
              <a:buNone/>
              <a:defRPr/>
            </a:lvl2pPr>
            <a:lvl3pPr marL="1371600" lvl="2" indent="-228600" algn="l">
              <a:lnSpc>
                <a:spcPct val="90000"/>
              </a:lnSpc>
              <a:spcBef>
                <a:spcPts val="500"/>
              </a:spcBef>
              <a:spcAft>
                <a:spcPts val="0"/>
              </a:spcAft>
              <a:buClr>
                <a:schemeClr val="dk1"/>
              </a:buClr>
              <a:buSzPts val="2000"/>
              <a:buFont typeface="Calibri"/>
              <a:buNone/>
              <a:defRPr/>
            </a:lvl3pPr>
            <a:lvl4pPr marL="1828800" lvl="3" indent="-228600" algn="l">
              <a:lnSpc>
                <a:spcPct val="90000"/>
              </a:lnSpc>
              <a:spcBef>
                <a:spcPts val="500"/>
              </a:spcBef>
              <a:spcAft>
                <a:spcPts val="0"/>
              </a:spcAft>
              <a:buClr>
                <a:schemeClr val="dk1"/>
              </a:buClr>
              <a:buSzPts val="1800"/>
              <a:buFont typeface="Calibri"/>
              <a:buNone/>
              <a:defRPr/>
            </a:lvl4pPr>
            <a:lvl5pPr marL="2286000" lvl="4" indent="-228600" algn="l">
              <a:lnSpc>
                <a:spcPct val="90000"/>
              </a:lnSpc>
              <a:spcBef>
                <a:spcPts val="500"/>
              </a:spcBef>
              <a:spcAft>
                <a:spcPts val="0"/>
              </a:spcAft>
              <a:buClr>
                <a:schemeClr val="dk1"/>
              </a:buClr>
              <a:buSzPts val="1800"/>
              <a:buFont typeface="Calibri"/>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41"/>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15171"/>
              </a:buClr>
              <a:buSzPts val="800"/>
              <a:buFont typeface="Calibri"/>
              <a:buNone/>
            </a:pPr>
            <a:r>
              <a:rPr lang="da-DK" sz="800" b="0" i="0" u="none" strike="noStrike" cap="none">
                <a:solidFill>
                  <a:srgbClr val="015171"/>
                </a:solidFill>
                <a:latin typeface="Calibri"/>
                <a:ea typeface="Calibri"/>
                <a:cs typeface="Calibri"/>
                <a:sym typeface="Calibri"/>
              </a:rPr>
              <a:t>Proprietary and confidential</a:t>
            </a:r>
            <a:endParaRPr sz="1800">
              <a:solidFill>
                <a:srgbClr val="015171"/>
              </a:solidFill>
              <a:latin typeface="Calibri"/>
              <a:ea typeface="Calibri"/>
              <a:cs typeface="Calibri"/>
              <a:sym typeface="Calibri"/>
            </a:endParaRPr>
          </a:p>
        </p:txBody>
      </p:sp>
      <p:sp>
        <p:nvSpPr>
          <p:cNvPr id="115" name="Google Shape;115;p41"/>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dk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hart slide section marker do not use">
  <p:cSld name="Chart slide section marker do not use">
    <p:spTree>
      <p:nvGrpSpPr>
        <p:cNvPr id="1" name="Shape 116"/>
        <p:cNvGrpSpPr/>
        <p:nvPr/>
      </p:nvGrpSpPr>
      <p:grpSpPr>
        <a:xfrm>
          <a:off x="0" y="0"/>
          <a:ext cx="0" cy="0"/>
          <a:chOff x="0" y="0"/>
          <a:chExt cx="0" cy="0"/>
        </a:xfrm>
      </p:grpSpPr>
      <p:sp>
        <p:nvSpPr>
          <p:cNvPr id="117" name="Google Shape;117;p42"/>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chemeClr val="dk1"/>
                </a:solidFill>
                <a:latin typeface="Open Sans"/>
                <a:ea typeface="Open Sans"/>
                <a:cs typeface="Open Sans"/>
                <a:sym typeface="Open Sans"/>
              </a:rPr>
              <a:t>‹#›</a:t>
            </a:fld>
            <a:endParaRPr sz="800" b="0" i="0">
              <a:solidFill>
                <a:schemeClr val="dk1"/>
              </a:solidFill>
              <a:latin typeface="Open Sans"/>
              <a:ea typeface="Open Sans"/>
              <a:cs typeface="Open Sans"/>
              <a:sym typeface="Open Sans"/>
            </a:endParaRPr>
          </a:p>
        </p:txBody>
      </p:sp>
      <p:sp>
        <p:nvSpPr>
          <p:cNvPr id="118" name="Google Shape;118;p42"/>
          <p:cNvSpPr txBox="1"/>
          <p:nvPr/>
        </p:nvSpPr>
        <p:spPr>
          <a:xfrm>
            <a:off x="3326205" y="2612571"/>
            <a:ext cx="5539589"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a-DK" sz="2800">
                <a:solidFill>
                  <a:schemeClr val="accent6"/>
                </a:solidFill>
                <a:latin typeface="Calibri"/>
                <a:ea typeface="Calibri"/>
                <a:cs typeface="Calibri"/>
                <a:sym typeface="Calibri"/>
              </a:rPr>
              <a:t>Chart slides section</a:t>
            </a:r>
            <a:endParaRPr sz="2800">
              <a:solidFill>
                <a:schemeClr val="accent6"/>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800"/>
              <a:buFont typeface="Arial"/>
              <a:buNone/>
            </a:pPr>
            <a:r>
              <a:rPr lang="da-DK" sz="2800">
                <a:solidFill>
                  <a:schemeClr val="accent6"/>
                </a:solidFill>
                <a:latin typeface="Calibri"/>
                <a:ea typeface="Calibri"/>
                <a:cs typeface="Calibri"/>
                <a:sym typeface="Calibri"/>
              </a:rPr>
              <a:t>This slide is not for use</a:t>
            </a:r>
            <a:endParaRPr sz="2800">
              <a:solidFill>
                <a:schemeClr val="accent6"/>
              </a:solidFill>
              <a:latin typeface="Calibri"/>
              <a:ea typeface="Calibri"/>
              <a:cs typeface="Calibri"/>
              <a:sym typeface="Calibri"/>
            </a:endParaRPr>
          </a:p>
          <a:p>
            <a:pPr marL="0" marR="0" lvl="0" indent="0" algn="ctr" rtl="0">
              <a:spcBef>
                <a:spcPts val="0"/>
              </a:spcBef>
              <a:spcAft>
                <a:spcPts val="0"/>
              </a:spcAft>
              <a:buNone/>
            </a:pPr>
            <a:endParaRPr sz="2800">
              <a:solidFill>
                <a:schemeClr val="accent6"/>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6_Title Only">
  <p:cSld name="6_Title Only">
    <p:spTree>
      <p:nvGrpSpPr>
        <p:cNvPr id="1" name="Shape 119"/>
        <p:cNvGrpSpPr/>
        <p:nvPr/>
      </p:nvGrpSpPr>
      <p:grpSpPr>
        <a:xfrm>
          <a:off x="0" y="0"/>
          <a:ext cx="0" cy="0"/>
          <a:chOff x="0" y="0"/>
          <a:chExt cx="0" cy="0"/>
        </a:xfrm>
      </p:grpSpPr>
      <p:sp>
        <p:nvSpPr>
          <p:cNvPr id="120" name="Google Shape;120;p43"/>
          <p:cNvSpPr txBox="1">
            <a:spLocks noGrp="1"/>
          </p:cNvSpPr>
          <p:nvPr>
            <p:ph type="title"/>
          </p:nvPr>
        </p:nvSpPr>
        <p:spPr>
          <a:xfrm>
            <a:off x="197875" y="220060"/>
            <a:ext cx="10515600" cy="10989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15171"/>
              </a:buClr>
              <a:buSzPts val="3200"/>
              <a:buFont typeface="Calibri"/>
              <a:buNone/>
              <a:defRPr sz="3200" b="0" i="0">
                <a:solidFill>
                  <a:srgbClr val="01517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43"/>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rgbClr val="A5A5A5"/>
                </a:solidFill>
                <a:latin typeface="Open Sans"/>
                <a:ea typeface="Open Sans"/>
                <a:cs typeface="Open Sans"/>
                <a:sym typeface="Open Sans"/>
              </a:rPr>
              <a:t>‹#›</a:t>
            </a:fld>
            <a:endParaRPr sz="800" b="0" i="0">
              <a:solidFill>
                <a:srgbClr val="A5A5A5"/>
              </a:solidFill>
              <a:latin typeface="Open Sans"/>
              <a:ea typeface="Open Sans"/>
              <a:cs typeface="Open Sans"/>
              <a:sym typeface="Open Sans"/>
            </a:endParaRPr>
          </a:p>
        </p:txBody>
      </p:sp>
      <p:pic>
        <p:nvPicPr>
          <p:cNvPr id="122" name="Google Shape;122;p43"/>
          <p:cNvPicPr preferRelativeResize="0"/>
          <p:nvPr/>
        </p:nvPicPr>
        <p:blipFill rotWithShape="1">
          <a:blip r:embed="rId2">
            <a:alphaModFix/>
          </a:blip>
          <a:srcRect/>
          <a:stretch/>
        </p:blipFill>
        <p:spPr>
          <a:xfrm>
            <a:off x="10256988" y="220060"/>
            <a:ext cx="1737137" cy="976178"/>
          </a:xfrm>
          <a:prstGeom prst="rect">
            <a:avLst/>
          </a:prstGeom>
          <a:noFill/>
          <a:ln>
            <a:noFill/>
          </a:ln>
        </p:spPr>
      </p:pic>
      <p:sp>
        <p:nvSpPr>
          <p:cNvPr id="123" name="Google Shape;123;p43"/>
          <p:cNvSpPr txBox="1">
            <a:spLocks noGrp="1"/>
          </p:cNvSpPr>
          <p:nvPr>
            <p:ph type="body" idx="1"/>
          </p:nvPr>
        </p:nvSpPr>
        <p:spPr>
          <a:xfrm>
            <a:off x="6589487" y="2131794"/>
            <a:ext cx="4318680" cy="3516312"/>
          </a:xfrm>
          <a:prstGeom prst="rect">
            <a:avLst/>
          </a:prstGeom>
          <a:noFill/>
          <a:ln>
            <a:noFill/>
          </a:ln>
        </p:spPr>
        <p:txBody>
          <a:bodyPr spcFirstLastPara="1" wrap="square" lIns="91425" tIns="45700" rIns="91425" bIns="45700" anchor="t" anchorCtr="0">
            <a:normAutofit/>
          </a:bodyPr>
          <a:lstStyle>
            <a:lvl1pPr marL="457200" marR="0" lvl="0" indent="-355600" algn="l">
              <a:lnSpc>
                <a:spcPct val="90000"/>
              </a:lnSpc>
              <a:spcBef>
                <a:spcPts val="1000"/>
              </a:spcBef>
              <a:spcAft>
                <a:spcPts val="0"/>
              </a:spcAft>
              <a:buClr>
                <a:schemeClr val="dk1"/>
              </a:buClr>
              <a:buSzPts val="2000"/>
              <a:buFont typeface="Arial"/>
              <a:buChar char="•"/>
              <a:defRPr sz="2000">
                <a:solidFill>
                  <a:schemeClr val="dk1"/>
                </a:solidFill>
                <a:latin typeface="Calibri"/>
                <a:ea typeface="Calibri"/>
                <a:cs typeface="Calibri"/>
                <a:sym typeface="Calibri"/>
              </a:defRPr>
            </a:lvl1pPr>
            <a:lvl2pPr marL="914400" lvl="1" indent="-355600" algn="l">
              <a:lnSpc>
                <a:spcPct val="90000"/>
              </a:lnSpc>
              <a:spcBef>
                <a:spcPts val="500"/>
              </a:spcBef>
              <a:spcAft>
                <a:spcPts val="0"/>
              </a:spcAft>
              <a:buClr>
                <a:schemeClr val="dk1"/>
              </a:buClr>
              <a:buSzPts val="2000"/>
              <a:buChar char="•"/>
              <a:defRPr sz="2000">
                <a:solidFill>
                  <a:schemeClr val="dk1"/>
                </a:solidFill>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sz="2000">
                <a:solidFill>
                  <a:schemeClr val="dk1"/>
                </a:solidFill>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solidFill>
                  <a:schemeClr val="dk1"/>
                </a:solidFill>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43"/>
          <p:cNvSpPr>
            <a:spLocks noGrp="1"/>
          </p:cNvSpPr>
          <p:nvPr>
            <p:ph type="chart" idx="2"/>
          </p:nvPr>
        </p:nvSpPr>
        <p:spPr>
          <a:xfrm>
            <a:off x="903515" y="2131794"/>
            <a:ext cx="5540828" cy="3516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43"/>
          <p:cNvSpPr txBox="1">
            <a:spLocks noGrp="1"/>
          </p:cNvSpPr>
          <p:nvPr>
            <p:ph type="body" idx="3"/>
          </p:nvPr>
        </p:nvSpPr>
        <p:spPr>
          <a:xfrm>
            <a:off x="5235574" y="6165387"/>
            <a:ext cx="6281738" cy="349250"/>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dk1"/>
              </a:buClr>
              <a:buSzPts val="1050"/>
              <a:buFont typeface="Calibri"/>
              <a:buNone/>
              <a:defRPr sz="1050">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2pPr>
            <a:lvl3pPr marL="1371600" lvl="2"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3pPr>
            <a:lvl4pPr marL="1828800" lvl="3"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4pPr>
            <a:lvl5pPr marL="2286000" lvl="4"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43"/>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15171"/>
              </a:buClr>
              <a:buSzPts val="800"/>
              <a:buFont typeface="Calibri"/>
              <a:buNone/>
            </a:pPr>
            <a:r>
              <a:rPr lang="da-DK" sz="800" b="0" i="0" u="none" strike="noStrike" cap="none">
                <a:solidFill>
                  <a:srgbClr val="015171"/>
                </a:solidFill>
                <a:latin typeface="Calibri"/>
                <a:ea typeface="Calibri"/>
                <a:cs typeface="Calibri"/>
                <a:sym typeface="Calibri"/>
              </a:rPr>
              <a:t>Proprietary and confidential</a:t>
            </a:r>
            <a:endParaRPr sz="1800">
              <a:solidFill>
                <a:srgbClr val="015171"/>
              </a:solidFill>
              <a:latin typeface="Calibri"/>
              <a:ea typeface="Calibri"/>
              <a:cs typeface="Calibri"/>
              <a:sym typeface="Calibri"/>
            </a:endParaRPr>
          </a:p>
        </p:txBody>
      </p:sp>
      <p:sp>
        <p:nvSpPr>
          <p:cNvPr id="127" name="Google Shape;127;p43"/>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dk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Title Only">
  <p:cSld name="7_Title Only">
    <p:spTree>
      <p:nvGrpSpPr>
        <p:cNvPr id="1" name="Shape 128"/>
        <p:cNvGrpSpPr/>
        <p:nvPr/>
      </p:nvGrpSpPr>
      <p:grpSpPr>
        <a:xfrm>
          <a:off x="0" y="0"/>
          <a:ext cx="0" cy="0"/>
          <a:chOff x="0" y="0"/>
          <a:chExt cx="0" cy="0"/>
        </a:xfrm>
      </p:grpSpPr>
      <p:sp>
        <p:nvSpPr>
          <p:cNvPr id="129" name="Google Shape;129;p44"/>
          <p:cNvSpPr txBox="1">
            <a:spLocks noGrp="1"/>
          </p:cNvSpPr>
          <p:nvPr>
            <p:ph type="title"/>
          </p:nvPr>
        </p:nvSpPr>
        <p:spPr>
          <a:xfrm>
            <a:off x="197875" y="220060"/>
            <a:ext cx="10515600" cy="10989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15171"/>
              </a:buClr>
              <a:buSzPts val="3200"/>
              <a:buFont typeface="Calibri"/>
              <a:buNone/>
              <a:defRPr sz="3200" b="0" i="0">
                <a:solidFill>
                  <a:srgbClr val="01517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44"/>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rgbClr val="A5A5A5"/>
                </a:solidFill>
                <a:latin typeface="Open Sans"/>
                <a:ea typeface="Open Sans"/>
                <a:cs typeface="Open Sans"/>
                <a:sym typeface="Open Sans"/>
              </a:rPr>
              <a:t>‹#›</a:t>
            </a:fld>
            <a:endParaRPr sz="800" b="0" i="0">
              <a:solidFill>
                <a:srgbClr val="A5A5A5"/>
              </a:solidFill>
              <a:latin typeface="Open Sans"/>
              <a:ea typeface="Open Sans"/>
              <a:cs typeface="Open Sans"/>
              <a:sym typeface="Open Sans"/>
            </a:endParaRPr>
          </a:p>
        </p:txBody>
      </p:sp>
      <p:pic>
        <p:nvPicPr>
          <p:cNvPr id="131" name="Google Shape;131;p44"/>
          <p:cNvPicPr preferRelativeResize="0"/>
          <p:nvPr/>
        </p:nvPicPr>
        <p:blipFill rotWithShape="1">
          <a:blip r:embed="rId2">
            <a:alphaModFix/>
          </a:blip>
          <a:srcRect/>
          <a:stretch/>
        </p:blipFill>
        <p:spPr>
          <a:xfrm>
            <a:off x="10256988" y="220060"/>
            <a:ext cx="1737137" cy="976178"/>
          </a:xfrm>
          <a:prstGeom prst="rect">
            <a:avLst/>
          </a:prstGeom>
          <a:noFill/>
          <a:ln>
            <a:noFill/>
          </a:ln>
        </p:spPr>
      </p:pic>
      <p:sp>
        <p:nvSpPr>
          <p:cNvPr id="132" name="Google Shape;132;p44"/>
          <p:cNvSpPr>
            <a:spLocks noGrp="1"/>
          </p:cNvSpPr>
          <p:nvPr>
            <p:ph type="chart" idx="2"/>
          </p:nvPr>
        </p:nvSpPr>
        <p:spPr>
          <a:xfrm>
            <a:off x="1251857" y="1873334"/>
            <a:ext cx="9688285" cy="3964206"/>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3" name="Google Shape;133;p44"/>
          <p:cNvSpPr txBox="1">
            <a:spLocks noGrp="1"/>
          </p:cNvSpPr>
          <p:nvPr>
            <p:ph type="body" idx="1"/>
          </p:nvPr>
        </p:nvSpPr>
        <p:spPr>
          <a:xfrm>
            <a:off x="5235574" y="6165387"/>
            <a:ext cx="6281738" cy="349250"/>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dk1"/>
              </a:buClr>
              <a:buSzPts val="1050"/>
              <a:buFont typeface="Calibri"/>
              <a:buNone/>
              <a:defRPr sz="1050">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2pPr>
            <a:lvl3pPr marL="1371600" lvl="2"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3pPr>
            <a:lvl4pPr marL="1828800" lvl="3"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4pPr>
            <a:lvl5pPr marL="2286000" lvl="4" indent="-228600" algn="l">
              <a:lnSpc>
                <a:spcPct val="90000"/>
              </a:lnSpc>
              <a:spcBef>
                <a:spcPts val="500"/>
              </a:spcBef>
              <a:spcAft>
                <a:spcPts val="0"/>
              </a:spcAft>
              <a:buClr>
                <a:schemeClr val="dk1"/>
              </a:buClr>
              <a:buSzPts val="1200"/>
              <a:buFont typeface="Calibri"/>
              <a:buNone/>
              <a:defRPr sz="1200">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4"/>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15171"/>
              </a:buClr>
              <a:buSzPts val="800"/>
              <a:buFont typeface="Calibri"/>
              <a:buNone/>
            </a:pPr>
            <a:r>
              <a:rPr lang="da-DK" sz="800" b="0" i="0" u="none" strike="noStrike" cap="none">
                <a:solidFill>
                  <a:srgbClr val="015171"/>
                </a:solidFill>
                <a:latin typeface="Calibri"/>
                <a:ea typeface="Calibri"/>
                <a:cs typeface="Calibri"/>
                <a:sym typeface="Calibri"/>
              </a:rPr>
              <a:t>Proprietary and confidential</a:t>
            </a:r>
            <a:endParaRPr sz="1800">
              <a:solidFill>
                <a:srgbClr val="015171"/>
              </a:solidFill>
              <a:latin typeface="Calibri"/>
              <a:ea typeface="Calibri"/>
              <a:cs typeface="Calibri"/>
              <a:sym typeface="Calibri"/>
            </a:endParaRPr>
          </a:p>
        </p:txBody>
      </p:sp>
      <p:sp>
        <p:nvSpPr>
          <p:cNvPr id="135" name="Google Shape;135;p44"/>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dk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reaker slide section marker do not use">
  <p:cSld name="Breaker slide section marker do not use">
    <p:spTree>
      <p:nvGrpSpPr>
        <p:cNvPr id="1" name="Shape 136"/>
        <p:cNvGrpSpPr/>
        <p:nvPr/>
      </p:nvGrpSpPr>
      <p:grpSpPr>
        <a:xfrm>
          <a:off x="0" y="0"/>
          <a:ext cx="0" cy="0"/>
          <a:chOff x="0" y="0"/>
          <a:chExt cx="0" cy="0"/>
        </a:xfrm>
      </p:grpSpPr>
      <p:sp>
        <p:nvSpPr>
          <p:cNvPr id="137" name="Google Shape;137;p45"/>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chemeClr val="dk1"/>
                </a:solidFill>
                <a:latin typeface="Open Sans"/>
                <a:ea typeface="Open Sans"/>
                <a:cs typeface="Open Sans"/>
                <a:sym typeface="Open Sans"/>
              </a:rPr>
              <a:t>‹#›</a:t>
            </a:fld>
            <a:endParaRPr sz="800" b="0" i="0">
              <a:solidFill>
                <a:schemeClr val="dk1"/>
              </a:solidFill>
              <a:latin typeface="Open Sans"/>
              <a:ea typeface="Open Sans"/>
              <a:cs typeface="Open Sans"/>
              <a:sym typeface="Open Sans"/>
            </a:endParaRPr>
          </a:p>
        </p:txBody>
      </p:sp>
      <p:sp>
        <p:nvSpPr>
          <p:cNvPr id="138" name="Google Shape;138;p45"/>
          <p:cNvSpPr txBox="1"/>
          <p:nvPr/>
        </p:nvSpPr>
        <p:spPr>
          <a:xfrm>
            <a:off x="3326205" y="2612571"/>
            <a:ext cx="5539589"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da-DK" sz="2800">
                <a:solidFill>
                  <a:schemeClr val="accent6"/>
                </a:solidFill>
                <a:latin typeface="Calibri"/>
                <a:ea typeface="Calibri"/>
                <a:cs typeface="Calibri"/>
                <a:sym typeface="Calibri"/>
              </a:rPr>
              <a:t>Breaker slide section</a:t>
            </a:r>
            <a:endParaRPr sz="2800">
              <a:solidFill>
                <a:schemeClr val="accent6"/>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800"/>
              <a:buFont typeface="Arial"/>
              <a:buNone/>
            </a:pPr>
            <a:r>
              <a:rPr lang="da-DK" sz="2800">
                <a:solidFill>
                  <a:schemeClr val="accent6"/>
                </a:solidFill>
                <a:latin typeface="Calibri"/>
                <a:ea typeface="Calibri"/>
                <a:cs typeface="Calibri"/>
                <a:sym typeface="Calibri"/>
              </a:rPr>
              <a:t>This slide is not for use</a:t>
            </a:r>
            <a:endParaRPr sz="2800">
              <a:solidFill>
                <a:schemeClr val="accent6"/>
              </a:solidFill>
              <a:latin typeface="Calibri"/>
              <a:ea typeface="Calibri"/>
              <a:cs typeface="Calibri"/>
              <a:sym typeface="Calibri"/>
            </a:endParaRPr>
          </a:p>
          <a:p>
            <a:pPr marL="0" marR="0" lvl="0" indent="0" algn="ctr" rtl="0">
              <a:spcBef>
                <a:spcPts val="0"/>
              </a:spcBef>
              <a:spcAft>
                <a:spcPts val="0"/>
              </a:spcAft>
              <a:buNone/>
            </a:pPr>
            <a:endParaRPr sz="2800">
              <a:solidFill>
                <a:schemeClr val="accent6"/>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_Custom Layout">
  <p:cSld name="6_Custom Layout">
    <p:bg>
      <p:bgPr>
        <a:solidFill>
          <a:srgbClr val="E0D147"/>
        </a:solidFill>
        <a:effectLst/>
      </p:bgPr>
    </p:bg>
    <p:spTree>
      <p:nvGrpSpPr>
        <p:cNvPr id="1" name="Shape 139"/>
        <p:cNvGrpSpPr/>
        <p:nvPr/>
      </p:nvGrpSpPr>
      <p:grpSpPr>
        <a:xfrm>
          <a:off x="0" y="0"/>
          <a:ext cx="0" cy="0"/>
          <a:chOff x="0" y="0"/>
          <a:chExt cx="0" cy="0"/>
        </a:xfrm>
      </p:grpSpPr>
      <p:sp>
        <p:nvSpPr>
          <p:cNvPr id="140" name="Google Shape;140;p46"/>
          <p:cNvSpPr/>
          <p:nvPr/>
        </p:nvSpPr>
        <p:spPr>
          <a:xfrm>
            <a:off x="0" y="0"/>
            <a:ext cx="12192000" cy="6879762"/>
          </a:xfrm>
          <a:prstGeom prst="rect">
            <a:avLst/>
          </a:prstGeom>
          <a:solidFill>
            <a:srgbClr val="AFDA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46"/>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chemeClr val="lt1"/>
                </a:solidFill>
                <a:latin typeface="Open Sans"/>
                <a:ea typeface="Open Sans"/>
                <a:cs typeface="Open Sans"/>
                <a:sym typeface="Open Sans"/>
              </a:rPr>
              <a:t>‹#›</a:t>
            </a:fld>
            <a:endParaRPr sz="800" b="0" i="0">
              <a:solidFill>
                <a:schemeClr val="lt1"/>
              </a:solidFill>
              <a:latin typeface="Open Sans"/>
              <a:ea typeface="Open Sans"/>
              <a:cs typeface="Open Sans"/>
              <a:sym typeface="Open Sans"/>
            </a:endParaRPr>
          </a:p>
        </p:txBody>
      </p:sp>
      <p:sp>
        <p:nvSpPr>
          <p:cNvPr id="142" name="Google Shape;142;p46"/>
          <p:cNvSpPr txBox="1">
            <a:spLocks noGrp="1"/>
          </p:cNvSpPr>
          <p:nvPr>
            <p:ph type="body" idx="1"/>
          </p:nvPr>
        </p:nvSpPr>
        <p:spPr>
          <a:xfrm>
            <a:off x="2063069" y="2783927"/>
            <a:ext cx="3931977" cy="546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b="0"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46"/>
          <p:cNvSpPr txBox="1">
            <a:spLocks noGrp="1"/>
          </p:cNvSpPr>
          <p:nvPr>
            <p:ph type="body" idx="2"/>
          </p:nvPr>
        </p:nvSpPr>
        <p:spPr>
          <a:xfrm>
            <a:off x="2063069" y="3806808"/>
            <a:ext cx="7786987" cy="208470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1"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46"/>
          <p:cNvSpPr txBox="1">
            <a:spLocks noGrp="1"/>
          </p:cNvSpPr>
          <p:nvPr>
            <p:ph type="subTitle" idx="3"/>
          </p:nvPr>
        </p:nvSpPr>
        <p:spPr>
          <a:xfrm>
            <a:off x="2063069" y="1522629"/>
            <a:ext cx="6571645" cy="126129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4000"/>
              <a:buNone/>
              <a:defRPr sz="4000" b="0" i="0">
                <a:solidFill>
                  <a:schemeClr val="lt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5" name="Google Shape;145;p46"/>
          <p:cNvPicPr preferRelativeResize="0"/>
          <p:nvPr/>
        </p:nvPicPr>
        <p:blipFill rotWithShape="1">
          <a:blip r:embed="rId2">
            <a:alphaModFix/>
          </a:blip>
          <a:srcRect/>
          <a:stretch/>
        </p:blipFill>
        <p:spPr>
          <a:xfrm>
            <a:off x="10256989" y="220060"/>
            <a:ext cx="1737135" cy="976178"/>
          </a:xfrm>
          <a:prstGeom prst="rect">
            <a:avLst/>
          </a:prstGeom>
          <a:noFill/>
          <a:ln>
            <a:noFill/>
          </a:ln>
        </p:spPr>
      </p:pic>
      <p:sp>
        <p:nvSpPr>
          <p:cNvPr id="146" name="Google Shape;146;p46"/>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800"/>
              <a:buFont typeface="Calibri"/>
              <a:buNone/>
            </a:pPr>
            <a:r>
              <a:rPr lang="da-DK" sz="800" b="0" i="0" u="none" strike="noStrike" cap="none">
                <a:solidFill>
                  <a:schemeClr val="lt1"/>
                </a:solidFill>
                <a:latin typeface="Calibri"/>
                <a:ea typeface="Calibri"/>
                <a:cs typeface="Calibri"/>
                <a:sym typeface="Calibri"/>
              </a:rPr>
              <a:t>Proprietary and confidential</a:t>
            </a:r>
            <a:endParaRPr sz="1800">
              <a:solidFill>
                <a:schemeClr val="lt1"/>
              </a:solidFill>
              <a:latin typeface="Calibri"/>
              <a:ea typeface="Calibri"/>
              <a:cs typeface="Calibri"/>
              <a:sym typeface="Calibri"/>
            </a:endParaRPr>
          </a:p>
        </p:txBody>
      </p:sp>
      <p:sp>
        <p:nvSpPr>
          <p:cNvPr id="147" name="Google Shape;147;p46"/>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lt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_Custom Layout">
  <p:cSld name="13_Custom Layout">
    <p:bg>
      <p:bgPr>
        <a:solidFill>
          <a:srgbClr val="E0D147"/>
        </a:solidFill>
        <a:effectLst/>
      </p:bgPr>
    </p:bg>
    <p:spTree>
      <p:nvGrpSpPr>
        <p:cNvPr id="1" name="Shape 148"/>
        <p:cNvGrpSpPr/>
        <p:nvPr/>
      </p:nvGrpSpPr>
      <p:grpSpPr>
        <a:xfrm>
          <a:off x="0" y="0"/>
          <a:ext cx="0" cy="0"/>
          <a:chOff x="0" y="0"/>
          <a:chExt cx="0" cy="0"/>
        </a:xfrm>
      </p:grpSpPr>
      <p:sp>
        <p:nvSpPr>
          <p:cNvPr id="149" name="Google Shape;149;p47"/>
          <p:cNvSpPr/>
          <p:nvPr/>
        </p:nvSpPr>
        <p:spPr>
          <a:xfrm>
            <a:off x="0" y="0"/>
            <a:ext cx="12192000" cy="6879762"/>
          </a:xfrm>
          <a:prstGeom prst="rect">
            <a:avLst/>
          </a:prstGeom>
          <a:solidFill>
            <a:srgbClr val="4EA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47"/>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chemeClr val="lt1"/>
                </a:solidFill>
                <a:latin typeface="Open Sans"/>
                <a:ea typeface="Open Sans"/>
                <a:cs typeface="Open Sans"/>
                <a:sym typeface="Open Sans"/>
              </a:rPr>
              <a:t>‹#›</a:t>
            </a:fld>
            <a:endParaRPr sz="800" b="0" i="0">
              <a:solidFill>
                <a:schemeClr val="lt1"/>
              </a:solidFill>
              <a:latin typeface="Open Sans"/>
              <a:ea typeface="Open Sans"/>
              <a:cs typeface="Open Sans"/>
              <a:sym typeface="Open Sans"/>
            </a:endParaRPr>
          </a:p>
        </p:txBody>
      </p:sp>
      <p:sp>
        <p:nvSpPr>
          <p:cNvPr id="151" name="Google Shape;151;p47"/>
          <p:cNvSpPr txBox="1">
            <a:spLocks noGrp="1"/>
          </p:cNvSpPr>
          <p:nvPr>
            <p:ph type="body" idx="1"/>
          </p:nvPr>
        </p:nvSpPr>
        <p:spPr>
          <a:xfrm>
            <a:off x="2063069" y="2783927"/>
            <a:ext cx="3931977" cy="546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b="0"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47"/>
          <p:cNvSpPr txBox="1">
            <a:spLocks noGrp="1"/>
          </p:cNvSpPr>
          <p:nvPr>
            <p:ph type="body" idx="2"/>
          </p:nvPr>
        </p:nvSpPr>
        <p:spPr>
          <a:xfrm>
            <a:off x="2063069" y="3806808"/>
            <a:ext cx="7786987" cy="208470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1"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3" name="Google Shape;153;p47"/>
          <p:cNvSpPr txBox="1">
            <a:spLocks noGrp="1"/>
          </p:cNvSpPr>
          <p:nvPr>
            <p:ph type="subTitle" idx="3"/>
          </p:nvPr>
        </p:nvSpPr>
        <p:spPr>
          <a:xfrm>
            <a:off x="2063069" y="1522629"/>
            <a:ext cx="6571645" cy="126129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4000"/>
              <a:buNone/>
              <a:defRPr sz="4000" b="0" i="0">
                <a:solidFill>
                  <a:schemeClr val="lt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54" name="Google Shape;154;p47"/>
          <p:cNvPicPr preferRelativeResize="0"/>
          <p:nvPr/>
        </p:nvPicPr>
        <p:blipFill rotWithShape="1">
          <a:blip r:embed="rId2">
            <a:alphaModFix/>
          </a:blip>
          <a:srcRect/>
          <a:stretch/>
        </p:blipFill>
        <p:spPr>
          <a:xfrm>
            <a:off x="10256989" y="220060"/>
            <a:ext cx="1737135" cy="976178"/>
          </a:xfrm>
          <a:prstGeom prst="rect">
            <a:avLst/>
          </a:prstGeom>
          <a:noFill/>
          <a:ln>
            <a:noFill/>
          </a:ln>
        </p:spPr>
      </p:pic>
      <p:sp>
        <p:nvSpPr>
          <p:cNvPr id="155" name="Google Shape;155;p47"/>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800"/>
              <a:buFont typeface="Calibri"/>
              <a:buNone/>
            </a:pPr>
            <a:r>
              <a:rPr lang="da-DK" sz="800" b="0" i="0" u="none" strike="noStrike" cap="none">
                <a:solidFill>
                  <a:schemeClr val="lt1"/>
                </a:solidFill>
                <a:latin typeface="Calibri"/>
                <a:ea typeface="Calibri"/>
                <a:cs typeface="Calibri"/>
                <a:sym typeface="Calibri"/>
              </a:rPr>
              <a:t>Proprietary and confidential</a:t>
            </a:r>
            <a:endParaRPr sz="1800">
              <a:solidFill>
                <a:schemeClr val="lt1"/>
              </a:solidFill>
              <a:latin typeface="Calibri"/>
              <a:ea typeface="Calibri"/>
              <a:cs typeface="Calibri"/>
              <a:sym typeface="Calibri"/>
            </a:endParaRPr>
          </a:p>
        </p:txBody>
      </p:sp>
      <p:sp>
        <p:nvSpPr>
          <p:cNvPr id="156" name="Google Shape;156;p47"/>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lt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_Custom Layout">
  <p:cSld name="14_Custom Layout">
    <p:bg>
      <p:bgPr>
        <a:solidFill>
          <a:srgbClr val="E0D147"/>
        </a:solidFill>
        <a:effectLst/>
      </p:bgPr>
    </p:bg>
    <p:spTree>
      <p:nvGrpSpPr>
        <p:cNvPr id="1" name="Shape 157"/>
        <p:cNvGrpSpPr/>
        <p:nvPr/>
      </p:nvGrpSpPr>
      <p:grpSpPr>
        <a:xfrm>
          <a:off x="0" y="0"/>
          <a:ext cx="0" cy="0"/>
          <a:chOff x="0" y="0"/>
          <a:chExt cx="0" cy="0"/>
        </a:xfrm>
      </p:grpSpPr>
      <p:sp>
        <p:nvSpPr>
          <p:cNvPr id="158" name="Google Shape;158;p48"/>
          <p:cNvSpPr/>
          <p:nvPr/>
        </p:nvSpPr>
        <p:spPr>
          <a:xfrm>
            <a:off x="0" y="0"/>
            <a:ext cx="12192000" cy="6879762"/>
          </a:xfrm>
          <a:prstGeom prst="rect">
            <a:avLst/>
          </a:prstGeom>
          <a:solidFill>
            <a:srgbClr val="E0D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48"/>
          <p:cNvSpPr txBox="1"/>
          <p:nvPr/>
        </p:nvSpPr>
        <p:spPr>
          <a:xfrm>
            <a:off x="11598053" y="6514637"/>
            <a:ext cx="58124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da-DK" sz="800" b="0" i="0">
                <a:solidFill>
                  <a:schemeClr val="lt1"/>
                </a:solidFill>
                <a:latin typeface="Open Sans"/>
                <a:ea typeface="Open Sans"/>
                <a:cs typeface="Open Sans"/>
                <a:sym typeface="Open Sans"/>
              </a:rPr>
              <a:t>‹#›</a:t>
            </a:fld>
            <a:endParaRPr sz="800" b="0" i="0">
              <a:solidFill>
                <a:schemeClr val="lt1"/>
              </a:solidFill>
              <a:latin typeface="Open Sans"/>
              <a:ea typeface="Open Sans"/>
              <a:cs typeface="Open Sans"/>
              <a:sym typeface="Open Sans"/>
            </a:endParaRPr>
          </a:p>
        </p:txBody>
      </p:sp>
      <p:sp>
        <p:nvSpPr>
          <p:cNvPr id="160" name="Google Shape;160;p48"/>
          <p:cNvSpPr txBox="1">
            <a:spLocks noGrp="1"/>
          </p:cNvSpPr>
          <p:nvPr>
            <p:ph type="body" idx="1"/>
          </p:nvPr>
        </p:nvSpPr>
        <p:spPr>
          <a:xfrm>
            <a:off x="2063069" y="2783927"/>
            <a:ext cx="3931977" cy="5461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b="0"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48"/>
          <p:cNvSpPr txBox="1">
            <a:spLocks noGrp="1"/>
          </p:cNvSpPr>
          <p:nvPr>
            <p:ph type="body" idx="2"/>
          </p:nvPr>
        </p:nvSpPr>
        <p:spPr>
          <a:xfrm>
            <a:off x="2063069" y="3806808"/>
            <a:ext cx="7786987" cy="208470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1" i="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48"/>
          <p:cNvSpPr txBox="1">
            <a:spLocks noGrp="1"/>
          </p:cNvSpPr>
          <p:nvPr>
            <p:ph type="subTitle" idx="3"/>
          </p:nvPr>
        </p:nvSpPr>
        <p:spPr>
          <a:xfrm>
            <a:off x="2063069" y="1522629"/>
            <a:ext cx="6571645" cy="126129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4000"/>
              <a:buNone/>
              <a:defRPr sz="4000" b="0" i="0">
                <a:solidFill>
                  <a:schemeClr val="lt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63" name="Google Shape;163;p48"/>
          <p:cNvPicPr preferRelativeResize="0"/>
          <p:nvPr/>
        </p:nvPicPr>
        <p:blipFill rotWithShape="1">
          <a:blip r:embed="rId2">
            <a:alphaModFix/>
          </a:blip>
          <a:srcRect/>
          <a:stretch/>
        </p:blipFill>
        <p:spPr>
          <a:xfrm>
            <a:off x="10256989" y="220060"/>
            <a:ext cx="1737135" cy="976178"/>
          </a:xfrm>
          <a:prstGeom prst="rect">
            <a:avLst/>
          </a:prstGeom>
          <a:noFill/>
          <a:ln>
            <a:noFill/>
          </a:ln>
        </p:spPr>
      </p:pic>
      <p:sp>
        <p:nvSpPr>
          <p:cNvPr id="164" name="Google Shape;164;p48"/>
          <p:cNvSpPr txBox="1"/>
          <p:nvPr/>
        </p:nvSpPr>
        <p:spPr>
          <a:xfrm>
            <a:off x="5267087" y="6589477"/>
            <a:ext cx="165782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800"/>
              <a:buFont typeface="Calibri"/>
              <a:buNone/>
            </a:pPr>
            <a:r>
              <a:rPr lang="da-DK" sz="800" b="0" i="0" u="none" strike="noStrike" cap="none">
                <a:solidFill>
                  <a:schemeClr val="lt1"/>
                </a:solidFill>
                <a:latin typeface="Calibri"/>
                <a:ea typeface="Calibri"/>
                <a:cs typeface="Calibri"/>
                <a:sym typeface="Calibri"/>
              </a:rPr>
              <a:t>Proprietary and confidential</a:t>
            </a:r>
            <a:endParaRPr sz="1800">
              <a:solidFill>
                <a:schemeClr val="lt1"/>
              </a:solidFill>
              <a:latin typeface="Calibri"/>
              <a:ea typeface="Calibri"/>
              <a:cs typeface="Calibri"/>
              <a:sym typeface="Calibri"/>
            </a:endParaRPr>
          </a:p>
        </p:txBody>
      </p:sp>
      <p:sp>
        <p:nvSpPr>
          <p:cNvPr id="165" name="Google Shape;165;p48"/>
          <p:cNvSpPr txBox="1"/>
          <p:nvPr/>
        </p:nvSpPr>
        <p:spPr>
          <a:xfrm>
            <a:off x="197876" y="6589476"/>
            <a:ext cx="3400348" cy="215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da-DK" sz="800" b="0" i="0">
                <a:solidFill>
                  <a:schemeClr val="lt1"/>
                </a:solidFill>
                <a:latin typeface="Calibri"/>
                <a:ea typeface="Calibri"/>
                <a:cs typeface="Calibri"/>
                <a:sym typeface="Calibri"/>
              </a:rPr>
              <a:t>Copyright © 2021 Epicrispr Biotechnologies, Inc. All rights reserved.</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96A3"/>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96A3"/>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96A3"/>
                </a:solidFill>
                <a:latin typeface="Calibri"/>
                <a:ea typeface="Calibri"/>
                <a:cs typeface="Calibri"/>
                <a:sym typeface="Calibri"/>
              </a:defRPr>
            </a:lvl1pPr>
            <a:lvl2pPr marL="0" marR="0" lvl="1" indent="0" algn="r" rtl="0">
              <a:spcBef>
                <a:spcPts val="0"/>
              </a:spcBef>
              <a:buNone/>
              <a:defRPr sz="1200" b="0" i="0" u="none" strike="noStrike" cap="none">
                <a:solidFill>
                  <a:srgbClr val="8896A3"/>
                </a:solidFill>
                <a:latin typeface="Calibri"/>
                <a:ea typeface="Calibri"/>
                <a:cs typeface="Calibri"/>
                <a:sym typeface="Calibri"/>
              </a:defRPr>
            </a:lvl2pPr>
            <a:lvl3pPr marL="0" marR="0" lvl="2" indent="0" algn="r" rtl="0">
              <a:spcBef>
                <a:spcPts val="0"/>
              </a:spcBef>
              <a:buNone/>
              <a:defRPr sz="1200" b="0" i="0" u="none" strike="noStrike" cap="none">
                <a:solidFill>
                  <a:srgbClr val="8896A3"/>
                </a:solidFill>
                <a:latin typeface="Calibri"/>
                <a:ea typeface="Calibri"/>
                <a:cs typeface="Calibri"/>
                <a:sym typeface="Calibri"/>
              </a:defRPr>
            </a:lvl3pPr>
            <a:lvl4pPr marL="0" marR="0" lvl="3" indent="0" algn="r" rtl="0">
              <a:spcBef>
                <a:spcPts val="0"/>
              </a:spcBef>
              <a:buNone/>
              <a:defRPr sz="1200" b="0" i="0" u="none" strike="noStrike" cap="none">
                <a:solidFill>
                  <a:srgbClr val="8896A3"/>
                </a:solidFill>
                <a:latin typeface="Calibri"/>
                <a:ea typeface="Calibri"/>
                <a:cs typeface="Calibri"/>
                <a:sym typeface="Calibri"/>
              </a:defRPr>
            </a:lvl4pPr>
            <a:lvl5pPr marL="0" marR="0" lvl="4" indent="0" algn="r" rtl="0">
              <a:spcBef>
                <a:spcPts val="0"/>
              </a:spcBef>
              <a:buNone/>
              <a:defRPr sz="1200" b="0" i="0" u="none" strike="noStrike" cap="none">
                <a:solidFill>
                  <a:srgbClr val="8896A3"/>
                </a:solidFill>
                <a:latin typeface="Calibri"/>
                <a:ea typeface="Calibri"/>
                <a:cs typeface="Calibri"/>
                <a:sym typeface="Calibri"/>
              </a:defRPr>
            </a:lvl5pPr>
            <a:lvl6pPr marL="0" marR="0" lvl="5" indent="0" algn="r" rtl="0">
              <a:spcBef>
                <a:spcPts val="0"/>
              </a:spcBef>
              <a:buNone/>
              <a:defRPr sz="1200" b="0" i="0" u="none" strike="noStrike" cap="none">
                <a:solidFill>
                  <a:srgbClr val="8896A3"/>
                </a:solidFill>
                <a:latin typeface="Calibri"/>
                <a:ea typeface="Calibri"/>
                <a:cs typeface="Calibri"/>
                <a:sym typeface="Calibri"/>
              </a:defRPr>
            </a:lvl6pPr>
            <a:lvl7pPr marL="0" marR="0" lvl="6" indent="0" algn="r" rtl="0">
              <a:spcBef>
                <a:spcPts val="0"/>
              </a:spcBef>
              <a:buNone/>
              <a:defRPr sz="1200" b="0" i="0" u="none" strike="noStrike" cap="none">
                <a:solidFill>
                  <a:srgbClr val="8896A3"/>
                </a:solidFill>
                <a:latin typeface="Calibri"/>
                <a:ea typeface="Calibri"/>
                <a:cs typeface="Calibri"/>
                <a:sym typeface="Calibri"/>
              </a:defRPr>
            </a:lvl7pPr>
            <a:lvl8pPr marL="0" marR="0" lvl="7" indent="0" algn="r" rtl="0">
              <a:spcBef>
                <a:spcPts val="0"/>
              </a:spcBef>
              <a:buNone/>
              <a:defRPr sz="1200" b="0" i="0" u="none" strike="noStrike" cap="none">
                <a:solidFill>
                  <a:srgbClr val="8896A3"/>
                </a:solidFill>
                <a:latin typeface="Calibri"/>
                <a:ea typeface="Calibri"/>
                <a:cs typeface="Calibri"/>
                <a:sym typeface="Calibri"/>
              </a:defRPr>
            </a:lvl8pPr>
            <a:lvl9pPr marL="0" marR="0" lvl="8" indent="0" algn="r" rtl="0">
              <a:spcBef>
                <a:spcPts val="0"/>
              </a:spcBef>
              <a:buNone/>
              <a:defRPr sz="1200" b="0" i="0" u="none" strike="noStrike" cap="none">
                <a:solidFill>
                  <a:srgbClr val="8896A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a-DK"/>
              <a:t>‹#›</a:t>
            </a:fld>
            <a:endParaRPr/>
          </a:p>
        </p:txBody>
      </p:sp>
      <p:sp>
        <p:nvSpPr>
          <p:cNvPr id="11" name="Google Shape;11;p28"/>
          <p:cNvSpPr/>
          <p:nvPr/>
        </p:nvSpPr>
        <p:spPr>
          <a:xfrm>
            <a:off x="-667910" y="4132790"/>
            <a:ext cx="453224" cy="453224"/>
          </a:xfrm>
          <a:prstGeom prst="rect">
            <a:avLst/>
          </a:prstGeom>
          <a:solidFill>
            <a:srgbClr val="8D8E8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sp>
        <p:nvSpPr>
          <p:cNvPr id="12" name="Google Shape;12;p28"/>
          <p:cNvSpPr/>
          <p:nvPr/>
        </p:nvSpPr>
        <p:spPr>
          <a:xfrm>
            <a:off x="-667910" y="2990148"/>
            <a:ext cx="453224" cy="453224"/>
          </a:xfrm>
          <a:prstGeom prst="rect">
            <a:avLst/>
          </a:prstGeom>
          <a:solidFill>
            <a:srgbClr val="42413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sp>
        <p:nvSpPr>
          <p:cNvPr id="13" name="Google Shape;13;p28"/>
          <p:cNvSpPr/>
          <p:nvPr/>
        </p:nvSpPr>
        <p:spPr>
          <a:xfrm>
            <a:off x="-667910" y="3561469"/>
            <a:ext cx="453224" cy="453224"/>
          </a:xfrm>
          <a:prstGeom prst="rect">
            <a:avLst/>
          </a:prstGeom>
          <a:solidFill>
            <a:srgbClr val="6A6B68"/>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sp>
        <p:nvSpPr>
          <p:cNvPr id="14" name="Google Shape;14;p28"/>
          <p:cNvSpPr/>
          <p:nvPr/>
        </p:nvSpPr>
        <p:spPr>
          <a:xfrm>
            <a:off x="-667910" y="5846753"/>
            <a:ext cx="453224" cy="453224"/>
          </a:xfrm>
          <a:prstGeom prst="rect">
            <a:avLst/>
          </a:prstGeom>
          <a:solidFill>
            <a:srgbClr val="E9EAEA"/>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sp>
        <p:nvSpPr>
          <p:cNvPr id="15" name="Google Shape;15;p28"/>
          <p:cNvSpPr/>
          <p:nvPr/>
        </p:nvSpPr>
        <p:spPr>
          <a:xfrm>
            <a:off x="-667910" y="4704111"/>
            <a:ext cx="453224" cy="453224"/>
          </a:xfrm>
          <a:prstGeom prst="rect">
            <a:avLst/>
          </a:prstGeom>
          <a:solidFill>
            <a:srgbClr val="B1B1B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sp>
        <p:nvSpPr>
          <p:cNvPr id="16" name="Google Shape;16;p28"/>
          <p:cNvSpPr/>
          <p:nvPr/>
        </p:nvSpPr>
        <p:spPr>
          <a:xfrm>
            <a:off x="-667910" y="5275432"/>
            <a:ext cx="453224" cy="453224"/>
          </a:xfrm>
          <a:prstGeom prst="rect">
            <a:avLst/>
          </a:prstGeom>
          <a:solidFill>
            <a:srgbClr val="D6D7D6"/>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Open Sans"/>
              <a:ea typeface="Open Sans"/>
              <a:cs typeface="Open Sans"/>
              <a:sym typeface="Open Sans"/>
            </a:endParaRPr>
          </a:p>
        </p:txBody>
      </p:sp>
      <p:pic>
        <p:nvPicPr>
          <p:cNvPr id="17" name="Google Shape;17;p28"/>
          <p:cNvPicPr preferRelativeResize="0"/>
          <p:nvPr/>
        </p:nvPicPr>
        <p:blipFill rotWithShape="1">
          <a:blip r:embed="rId13">
            <a:alphaModFix/>
          </a:blip>
          <a:srcRect l="30419"/>
          <a:stretch/>
        </p:blipFill>
        <p:spPr>
          <a:xfrm>
            <a:off x="-1789044" y="0"/>
            <a:ext cx="1574357" cy="272521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2"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
          <p:cNvSpPr txBox="1">
            <a:spLocks noGrp="1"/>
          </p:cNvSpPr>
          <p:nvPr>
            <p:ph type="subTitle" idx="1"/>
          </p:nvPr>
        </p:nvSpPr>
        <p:spPr>
          <a:xfrm>
            <a:off x="5861215" y="2314751"/>
            <a:ext cx="5763227" cy="4822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da-DK" sz="3200" dirty="0" err="1"/>
              <a:t>Enhancer</a:t>
            </a:r>
            <a:r>
              <a:rPr lang="da-DK" sz="3200" dirty="0"/>
              <a:t> </a:t>
            </a:r>
            <a:r>
              <a:rPr lang="da-DK" sz="3200" dirty="0" err="1"/>
              <a:t>prediction</a:t>
            </a:r>
            <a:r>
              <a:rPr lang="da-DK" sz="3200" dirty="0"/>
              <a:t> </a:t>
            </a:r>
            <a:r>
              <a:rPr lang="da-DK" sz="3200" dirty="0" err="1"/>
              <a:t>through</a:t>
            </a:r>
            <a:r>
              <a:rPr lang="da-DK" sz="3200" dirty="0"/>
              <a:t> </a:t>
            </a:r>
            <a:r>
              <a:rPr lang="da-DK" sz="3200" dirty="0" err="1"/>
              <a:t>multi-omics</a:t>
            </a:r>
            <a:r>
              <a:rPr lang="da-DK" sz="3200" dirty="0"/>
              <a:t> integration</a:t>
            </a:r>
          </a:p>
        </p:txBody>
      </p:sp>
      <p:sp>
        <p:nvSpPr>
          <p:cNvPr id="171" name="Google Shape;171;p1"/>
          <p:cNvSpPr txBox="1">
            <a:spLocks noGrp="1"/>
          </p:cNvSpPr>
          <p:nvPr>
            <p:ph type="body" idx="2"/>
          </p:nvPr>
        </p:nvSpPr>
        <p:spPr>
          <a:xfrm>
            <a:off x="5861215" y="3817881"/>
            <a:ext cx="3931977" cy="5461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1800"/>
              <a:buNone/>
            </a:pPr>
            <a:r>
              <a:rPr lang="da-DK" dirty="0"/>
              <a:t>Robin W. </a:t>
            </a:r>
            <a:r>
              <a:rPr lang="da-DK" dirty="0" err="1"/>
              <a:t>Yeo</a:t>
            </a:r>
            <a:r>
              <a:rPr lang="da-DK" dirty="0"/>
              <a:t>, </a:t>
            </a:r>
            <a:r>
              <a:rPr lang="da-DK" dirty="0" err="1"/>
              <a:t>PhD</a:t>
            </a:r>
            <a:endParaRPr lang="da-DK" dirty="0"/>
          </a:p>
          <a:p>
            <a:pPr marL="0" lvl="0" indent="0" algn="l" rtl="0">
              <a:lnSpc>
                <a:spcPct val="90000"/>
              </a:lnSpc>
              <a:spcBef>
                <a:spcPts val="0"/>
              </a:spcBef>
              <a:spcAft>
                <a:spcPts val="0"/>
              </a:spcAft>
              <a:buClr>
                <a:schemeClr val="lt1"/>
              </a:buClr>
              <a:buSzPts val="1800"/>
              <a:buNone/>
            </a:pPr>
            <a:r>
              <a:rPr lang="da-DK" dirty="0" err="1"/>
              <a:t>Biological</a:t>
            </a:r>
            <a:r>
              <a:rPr lang="da-DK" dirty="0"/>
              <a:t> Data </a:t>
            </a:r>
            <a:r>
              <a:rPr lang="da-DK" dirty="0" err="1"/>
              <a:t>Scientist</a:t>
            </a:r>
            <a:endParaRPr lang="da-DK" dirty="0"/>
          </a:p>
        </p:txBody>
      </p:sp>
    </p:spTree>
    <p:extLst>
      <p:ext uri="{BB962C8B-B14F-4D97-AF65-F5344CB8AC3E}">
        <p14:creationId xmlns:p14="http://schemas.microsoft.com/office/powerpoint/2010/main" val="2664194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14B1-FBA8-004A-A7F4-580E5C173B5C}"/>
              </a:ext>
            </a:extLst>
          </p:cNvPr>
          <p:cNvSpPr>
            <a:spLocks noGrp="1"/>
          </p:cNvSpPr>
          <p:nvPr>
            <p:ph type="title"/>
          </p:nvPr>
        </p:nvSpPr>
        <p:spPr>
          <a:xfrm>
            <a:off x="838200" y="2879524"/>
            <a:ext cx="10515600" cy="1098951"/>
          </a:xfrm>
        </p:spPr>
        <p:txBody>
          <a:bodyPr>
            <a:normAutofit/>
          </a:bodyPr>
          <a:lstStyle/>
          <a:p>
            <a:pPr algn="ctr"/>
            <a:r>
              <a:rPr lang="en-US" sz="4400" dirty="0"/>
              <a:t>What are enhancers?</a:t>
            </a:r>
          </a:p>
        </p:txBody>
      </p:sp>
    </p:spTree>
    <p:extLst>
      <p:ext uri="{BB962C8B-B14F-4D97-AF65-F5344CB8AC3E}">
        <p14:creationId xmlns:p14="http://schemas.microsoft.com/office/powerpoint/2010/main" val="3180939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AA703-1853-5040-A3CF-D174810066F6}"/>
              </a:ext>
            </a:extLst>
          </p:cNvPr>
          <p:cNvSpPr>
            <a:spLocks noGrp="1"/>
          </p:cNvSpPr>
          <p:nvPr>
            <p:ph type="title"/>
          </p:nvPr>
        </p:nvSpPr>
        <p:spPr/>
        <p:txBody>
          <a:bodyPr/>
          <a:lstStyle/>
          <a:p>
            <a:r>
              <a:rPr lang="en-US" dirty="0"/>
              <a:t>Basic biology of transcriptional enhancers</a:t>
            </a:r>
          </a:p>
        </p:txBody>
      </p:sp>
      <p:sp>
        <p:nvSpPr>
          <p:cNvPr id="3" name="TextBox 2">
            <a:extLst>
              <a:ext uri="{FF2B5EF4-FFF2-40B4-BE49-F238E27FC236}">
                <a16:creationId xmlns:a16="http://schemas.microsoft.com/office/drawing/2014/main" id="{1A6C00A6-8B10-0147-B831-8FE186342480}"/>
              </a:ext>
            </a:extLst>
          </p:cNvPr>
          <p:cNvSpPr txBox="1"/>
          <p:nvPr/>
        </p:nvSpPr>
        <p:spPr>
          <a:xfrm>
            <a:off x="599090" y="1839310"/>
            <a:ext cx="5023945" cy="4401205"/>
          </a:xfrm>
          <a:prstGeom prst="rect">
            <a:avLst/>
          </a:prstGeom>
          <a:noFill/>
        </p:spPr>
        <p:txBody>
          <a:bodyPr wrap="square" rtlCol="0">
            <a:spAutoFit/>
          </a:bodyPr>
          <a:lstStyle/>
          <a:p>
            <a:r>
              <a:rPr lang="en-US" dirty="0"/>
              <a:t>Nucleated cells contain identical genomes yet differentiate into multiple cellular lineages during development through differential epigenetic regulation</a:t>
            </a:r>
          </a:p>
          <a:p>
            <a:endParaRPr lang="en-US" dirty="0"/>
          </a:p>
          <a:p>
            <a:r>
              <a:rPr lang="en-US" dirty="0"/>
              <a:t>Different cell types have differential gene expression profiles despite all possessing (and expressing) identical transcriptional machinery (e.g. RNA Polymerase II, </a:t>
            </a:r>
            <a:r>
              <a:rPr lang="en-US" dirty="0" err="1"/>
              <a:t>etc</a:t>
            </a:r>
            <a:r>
              <a:rPr lang="en-US" dirty="0"/>
              <a:t>) which is recruited to core promoters around the TSS</a:t>
            </a:r>
          </a:p>
          <a:p>
            <a:endParaRPr lang="en-US" dirty="0"/>
          </a:p>
          <a:p>
            <a:r>
              <a:rPr lang="en-US" dirty="0"/>
              <a:t>Transcriptional machinery is often insufficient to drive gene expression in the absence of more distal functional DNA regions known as </a:t>
            </a:r>
            <a:r>
              <a:rPr lang="en-US" b="1" dirty="0"/>
              <a:t>cis-regulatory elements</a:t>
            </a:r>
          </a:p>
          <a:p>
            <a:endParaRPr lang="en-US" b="1" dirty="0"/>
          </a:p>
          <a:p>
            <a:r>
              <a:rPr lang="en-US" dirty="0"/>
              <a:t>Cis-regulatory elements, such as </a:t>
            </a:r>
            <a:r>
              <a:rPr lang="en-US" b="1" dirty="0"/>
              <a:t>enhancers</a:t>
            </a:r>
            <a:r>
              <a:rPr lang="en-US" dirty="0"/>
              <a:t>, contain short DNA motifs that act as binding sites for sequence-specific transcription factors (TFs)</a:t>
            </a:r>
          </a:p>
          <a:p>
            <a:endParaRPr lang="en-US" dirty="0"/>
          </a:p>
          <a:p>
            <a:r>
              <a:rPr lang="en-US" dirty="0"/>
              <a:t>TF binding to enhancers serve to recruit co-activators/co-repressors that drive differential gene expression in a cell-type specific manner</a:t>
            </a:r>
          </a:p>
        </p:txBody>
      </p:sp>
      <p:pic>
        <p:nvPicPr>
          <p:cNvPr id="5" name="Picture 4" descr="Diagram&#10;&#10;Description automatically generated">
            <a:extLst>
              <a:ext uri="{FF2B5EF4-FFF2-40B4-BE49-F238E27FC236}">
                <a16:creationId xmlns:a16="http://schemas.microsoft.com/office/drawing/2014/main" id="{CF178704-EFDF-A547-80FE-49C913B27D53}"/>
              </a:ext>
            </a:extLst>
          </p:cNvPr>
          <p:cNvPicPr>
            <a:picLocks noChangeAspect="1"/>
          </p:cNvPicPr>
          <p:nvPr/>
        </p:nvPicPr>
        <p:blipFill>
          <a:blip r:embed="rId2"/>
          <a:stretch>
            <a:fillRect/>
          </a:stretch>
        </p:blipFill>
        <p:spPr>
          <a:xfrm>
            <a:off x="6096000" y="1532875"/>
            <a:ext cx="5535164" cy="4798630"/>
          </a:xfrm>
          <a:prstGeom prst="rect">
            <a:avLst/>
          </a:prstGeom>
        </p:spPr>
      </p:pic>
      <p:sp>
        <p:nvSpPr>
          <p:cNvPr id="6" name="Rectangle 5">
            <a:extLst>
              <a:ext uri="{FF2B5EF4-FFF2-40B4-BE49-F238E27FC236}">
                <a16:creationId xmlns:a16="http://schemas.microsoft.com/office/drawing/2014/main" id="{32B7021D-BCD6-EE49-A6B2-6BACC1DBB8A0}"/>
              </a:ext>
            </a:extLst>
          </p:cNvPr>
          <p:cNvSpPr/>
          <p:nvPr/>
        </p:nvSpPr>
        <p:spPr>
          <a:xfrm>
            <a:off x="5999356" y="3088888"/>
            <a:ext cx="5910146" cy="1661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85E92C2-36A9-814F-BF22-140225EFAF4D}"/>
              </a:ext>
            </a:extLst>
          </p:cNvPr>
          <p:cNvSpPr/>
          <p:nvPr/>
        </p:nvSpPr>
        <p:spPr>
          <a:xfrm>
            <a:off x="5999356" y="4883837"/>
            <a:ext cx="5910146" cy="1661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61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765F-718C-0645-8685-1D5CE3EF0E37}"/>
              </a:ext>
            </a:extLst>
          </p:cNvPr>
          <p:cNvSpPr>
            <a:spLocks noGrp="1"/>
          </p:cNvSpPr>
          <p:nvPr>
            <p:ph type="title"/>
          </p:nvPr>
        </p:nvSpPr>
        <p:spPr/>
        <p:txBody>
          <a:bodyPr/>
          <a:lstStyle/>
          <a:p>
            <a:r>
              <a:rPr lang="en-US" dirty="0"/>
              <a:t>Characteristics of transcriptional enhancers</a:t>
            </a:r>
          </a:p>
        </p:txBody>
      </p:sp>
      <p:sp>
        <p:nvSpPr>
          <p:cNvPr id="3" name="TextBox 2">
            <a:extLst>
              <a:ext uri="{FF2B5EF4-FFF2-40B4-BE49-F238E27FC236}">
                <a16:creationId xmlns:a16="http://schemas.microsoft.com/office/drawing/2014/main" id="{9FED860C-CA72-2943-994F-A23AE1CCD5C2}"/>
              </a:ext>
            </a:extLst>
          </p:cNvPr>
          <p:cNvSpPr txBox="1"/>
          <p:nvPr/>
        </p:nvSpPr>
        <p:spPr>
          <a:xfrm>
            <a:off x="520408" y="3035195"/>
            <a:ext cx="8840882" cy="3754874"/>
          </a:xfrm>
          <a:prstGeom prst="rect">
            <a:avLst/>
          </a:prstGeom>
          <a:noFill/>
        </p:spPr>
        <p:txBody>
          <a:bodyPr wrap="none" rtlCol="0">
            <a:spAutoFit/>
          </a:bodyPr>
          <a:lstStyle/>
          <a:p>
            <a:r>
              <a:rPr lang="en-US" b="1" dirty="0"/>
              <a:t>Enhancers share a set of common characteristics:</a:t>
            </a:r>
          </a:p>
          <a:p>
            <a:endParaRPr lang="en-US" dirty="0"/>
          </a:p>
          <a:p>
            <a:pPr marL="285750" indent="-285750">
              <a:buFontTx/>
              <a:buChar char="-"/>
            </a:pPr>
            <a:r>
              <a:rPr lang="en-US" dirty="0"/>
              <a:t>DNA sequence is </a:t>
            </a:r>
            <a:r>
              <a:rPr lang="en-US" i="1" dirty="0"/>
              <a:t>non-coding </a:t>
            </a:r>
            <a:r>
              <a:rPr lang="en-US" dirty="0"/>
              <a:t>and contains TF binding motifs</a:t>
            </a:r>
          </a:p>
          <a:p>
            <a:pPr marL="285750" indent="-285750">
              <a:buFontTx/>
              <a:buChar char="-"/>
            </a:pPr>
            <a:endParaRPr lang="en-US" dirty="0"/>
          </a:p>
          <a:p>
            <a:pPr marL="285750" indent="-285750">
              <a:buFontTx/>
              <a:buChar char="-"/>
            </a:pPr>
            <a:r>
              <a:rPr lang="en-US" dirty="0"/>
              <a:t>Located at </a:t>
            </a:r>
            <a:r>
              <a:rPr lang="en-US" i="1" dirty="0"/>
              <a:t>any</a:t>
            </a:r>
            <a:r>
              <a:rPr lang="en-US" dirty="0"/>
              <a:t> distance (up to </a:t>
            </a:r>
            <a:r>
              <a:rPr lang="en-US" dirty="0" err="1"/>
              <a:t>megabases</a:t>
            </a:r>
            <a:r>
              <a:rPr lang="en-US" dirty="0"/>
              <a:t> away) from their TSS making identification challenging</a:t>
            </a:r>
          </a:p>
          <a:p>
            <a:endParaRPr lang="en-US" dirty="0"/>
          </a:p>
          <a:p>
            <a:pPr marL="285750" indent="-285750">
              <a:buFontTx/>
              <a:buChar char="-"/>
            </a:pPr>
            <a:r>
              <a:rPr lang="en-US" dirty="0"/>
              <a:t>DNA is accessible and devoid of nucleosomes</a:t>
            </a:r>
          </a:p>
          <a:p>
            <a:endParaRPr lang="en-US" dirty="0"/>
          </a:p>
          <a:p>
            <a:pPr marL="285750" indent="-285750">
              <a:buFontTx/>
              <a:buChar char="-"/>
            </a:pPr>
            <a:r>
              <a:rPr lang="en-US" dirty="0"/>
              <a:t>Nucleosomes around enhancer contain specific post-translational modifications (H3K4me1 and H3K27ac)</a:t>
            </a:r>
          </a:p>
          <a:p>
            <a:pPr marL="285750" indent="-285750">
              <a:buFontTx/>
              <a:buChar char="-"/>
            </a:pPr>
            <a:endParaRPr lang="en-US" dirty="0"/>
          </a:p>
          <a:p>
            <a:pPr marL="285750" indent="-285750">
              <a:buFontTx/>
              <a:buChar char="-"/>
            </a:pPr>
            <a:r>
              <a:rPr lang="en-US" dirty="0"/>
              <a:t>Enhancer activity is independent of sequence orientation</a:t>
            </a:r>
          </a:p>
          <a:p>
            <a:endParaRPr lang="en-US" dirty="0"/>
          </a:p>
          <a:p>
            <a:pPr marL="285750" indent="-285750">
              <a:buFontTx/>
              <a:buChar char="-"/>
            </a:pPr>
            <a:r>
              <a:rPr lang="en-US" dirty="0"/>
              <a:t>Exhibit higher evolutionary conservation than background sequences</a:t>
            </a:r>
          </a:p>
          <a:p>
            <a:pPr marL="285750" indent="-285750">
              <a:buFontTx/>
              <a:buChar char="-"/>
            </a:pPr>
            <a:endParaRPr lang="en-US" dirty="0"/>
          </a:p>
          <a:p>
            <a:pPr marL="285750" indent="-285750">
              <a:buFontTx/>
              <a:buChar char="-"/>
            </a:pPr>
            <a:endParaRPr lang="en-US" dirty="0"/>
          </a:p>
          <a:p>
            <a:pPr lvl="2"/>
            <a:endParaRPr lang="en-US" dirty="0"/>
          </a:p>
          <a:p>
            <a:endParaRPr lang="en-US" dirty="0"/>
          </a:p>
        </p:txBody>
      </p:sp>
      <p:pic>
        <p:nvPicPr>
          <p:cNvPr id="4" name="Picture 3" descr="Diagram&#10;&#10;Description automatically generated">
            <a:extLst>
              <a:ext uri="{FF2B5EF4-FFF2-40B4-BE49-F238E27FC236}">
                <a16:creationId xmlns:a16="http://schemas.microsoft.com/office/drawing/2014/main" id="{628FBB2B-D398-2042-AEE3-A3AF1407A2D0}"/>
              </a:ext>
            </a:extLst>
          </p:cNvPr>
          <p:cNvPicPr>
            <a:picLocks noChangeAspect="1"/>
          </p:cNvPicPr>
          <p:nvPr/>
        </p:nvPicPr>
        <p:blipFill rotWithShape="1">
          <a:blip r:embed="rId2"/>
          <a:srcRect l="2283" t="2194" r="20960" b="74905"/>
          <a:stretch/>
        </p:blipFill>
        <p:spPr>
          <a:xfrm>
            <a:off x="2400241" y="984094"/>
            <a:ext cx="6110868" cy="1580643"/>
          </a:xfrm>
          <a:prstGeom prst="rect">
            <a:avLst/>
          </a:prstGeom>
        </p:spPr>
      </p:pic>
    </p:spTree>
    <p:extLst>
      <p:ext uri="{BB962C8B-B14F-4D97-AF65-F5344CB8AC3E}">
        <p14:creationId xmlns:p14="http://schemas.microsoft.com/office/powerpoint/2010/main" val="2131790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8A58F-9A86-634D-95C7-C920245B839E}"/>
              </a:ext>
            </a:extLst>
          </p:cNvPr>
          <p:cNvSpPr>
            <a:spLocks noGrp="1"/>
          </p:cNvSpPr>
          <p:nvPr>
            <p:ph type="title"/>
          </p:nvPr>
        </p:nvSpPr>
        <p:spPr/>
        <p:txBody>
          <a:bodyPr/>
          <a:lstStyle/>
          <a:p>
            <a:r>
              <a:rPr lang="en-US" dirty="0"/>
              <a:t>Why do we care about enhancers?</a:t>
            </a:r>
          </a:p>
        </p:txBody>
      </p:sp>
      <p:sp>
        <p:nvSpPr>
          <p:cNvPr id="3" name="TextBox 2">
            <a:extLst>
              <a:ext uri="{FF2B5EF4-FFF2-40B4-BE49-F238E27FC236}">
                <a16:creationId xmlns:a16="http://schemas.microsoft.com/office/drawing/2014/main" id="{1B9B03C1-60D4-A641-BEB2-62508BFC86C3}"/>
              </a:ext>
            </a:extLst>
          </p:cNvPr>
          <p:cNvSpPr txBox="1"/>
          <p:nvPr/>
        </p:nvSpPr>
        <p:spPr>
          <a:xfrm>
            <a:off x="561553" y="1447749"/>
            <a:ext cx="4995186" cy="4616648"/>
          </a:xfrm>
          <a:prstGeom prst="rect">
            <a:avLst/>
          </a:prstGeom>
          <a:noFill/>
        </p:spPr>
        <p:txBody>
          <a:bodyPr wrap="square" rtlCol="0">
            <a:spAutoFit/>
          </a:bodyPr>
          <a:lstStyle/>
          <a:p>
            <a:r>
              <a:rPr lang="en-US" dirty="0"/>
              <a:t>Enhancers are bound/regulated by TFs in a highly </a:t>
            </a:r>
            <a:r>
              <a:rPr lang="en-US" dirty="0" err="1"/>
              <a:t>celltype</a:t>
            </a:r>
            <a:r>
              <a:rPr lang="en-US" dirty="0"/>
              <a:t>-specific and spatiotemporally-specific manner allowing them to drive cellular lineage specification and development</a:t>
            </a:r>
          </a:p>
          <a:p>
            <a:endParaRPr lang="en-US" dirty="0"/>
          </a:p>
          <a:p>
            <a:endParaRPr lang="en-US" dirty="0"/>
          </a:p>
          <a:p>
            <a:r>
              <a:rPr lang="en-US" dirty="0"/>
              <a:t>Vast majority of enhancers remain unknown but contribute key roles in development, evolution, and disease</a:t>
            </a:r>
          </a:p>
          <a:p>
            <a:endParaRPr lang="en-US" dirty="0"/>
          </a:p>
          <a:p>
            <a:endParaRPr lang="en-US" dirty="0"/>
          </a:p>
          <a:p>
            <a:r>
              <a:rPr lang="en-US" dirty="0"/>
              <a:t>Many disease-associated SNPs occur in distal non-coding enhancers making them potential therapeutic targets</a:t>
            </a:r>
          </a:p>
          <a:p>
            <a:endParaRPr lang="en-US" dirty="0"/>
          </a:p>
          <a:p>
            <a:endParaRPr lang="en-US" dirty="0"/>
          </a:p>
          <a:p>
            <a:r>
              <a:rPr lang="en-US" dirty="0"/>
              <a:t>Targeting enhancers with SNPs can achieve allele-specific gene activation</a:t>
            </a:r>
          </a:p>
          <a:p>
            <a:endParaRPr lang="en-US" dirty="0"/>
          </a:p>
          <a:p>
            <a:endParaRPr lang="en-US" dirty="0"/>
          </a:p>
          <a:p>
            <a:r>
              <a:rPr lang="en-US" dirty="0"/>
              <a:t>Enhancers can regulate entire gene families or regulatory hubs making them attractive targets if there is a therapeutic desire to modulate entire gene families in a </a:t>
            </a:r>
            <a:r>
              <a:rPr lang="en-US" dirty="0" err="1"/>
              <a:t>celltype</a:t>
            </a:r>
            <a:r>
              <a:rPr lang="en-US" dirty="0"/>
              <a:t>-specific manner</a:t>
            </a:r>
          </a:p>
        </p:txBody>
      </p:sp>
      <p:grpSp>
        <p:nvGrpSpPr>
          <p:cNvPr id="14" name="Group 13">
            <a:extLst>
              <a:ext uri="{FF2B5EF4-FFF2-40B4-BE49-F238E27FC236}">
                <a16:creationId xmlns:a16="http://schemas.microsoft.com/office/drawing/2014/main" id="{25468038-4CBD-6B4C-8DB6-5FF830FC701F}"/>
              </a:ext>
            </a:extLst>
          </p:cNvPr>
          <p:cNvGrpSpPr/>
          <p:nvPr/>
        </p:nvGrpSpPr>
        <p:grpSpPr>
          <a:xfrm>
            <a:off x="7005719" y="984738"/>
            <a:ext cx="3645533" cy="2859386"/>
            <a:chOff x="6854999" y="991800"/>
            <a:chExt cx="3532083" cy="2852324"/>
          </a:xfrm>
        </p:grpSpPr>
        <p:pic>
          <p:nvPicPr>
            <p:cNvPr id="5" name="Picture 4" descr="Diagram, schematic&#10;&#10;Description automatically generated">
              <a:extLst>
                <a:ext uri="{FF2B5EF4-FFF2-40B4-BE49-F238E27FC236}">
                  <a16:creationId xmlns:a16="http://schemas.microsoft.com/office/drawing/2014/main" id="{8BA8A130-36BB-1342-B6F2-708205A4FE1F}"/>
                </a:ext>
              </a:extLst>
            </p:cNvPr>
            <p:cNvPicPr>
              <a:picLocks noChangeAspect="1"/>
            </p:cNvPicPr>
            <p:nvPr/>
          </p:nvPicPr>
          <p:blipFill>
            <a:blip r:embed="rId2"/>
            <a:stretch>
              <a:fillRect/>
            </a:stretch>
          </p:blipFill>
          <p:spPr>
            <a:xfrm>
              <a:off x="6854999" y="991800"/>
              <a:ext cx="3532083" cy="2852324"/>
            </a:xfrm>
            <a:prstGeom prst="rect">
              <a:avLst/>
            </a:prstGeom>
          </p:spPr>
        </p:pic>
        <p:sp>
          <p:nvSpPr>
            <p:cNvPr id="13" name="Rectangle 12">
              <a:extLst>
                <a:ext uri="{FF2B5EF4-FFF2-40B4-BE49-F238E27FC236}">
                  <a16:creationId xmlns:a16="http://schemas.microsoft.com/office/drawing/2014/main" id="{E8593D51-E5A4-9046-BDBD-AB9D465D37D4}"/>
                </a:ext>
              </a:extLst>
            </p:cNvPr>
            <p:cNvSpPr/>
            <p:nvPr/>
          </p:nvSpPr>
          <p:spPr>
            <a:xfrm>
              <a:off x="6854999" y="991800"/>
              <a:ext cx="369766" cy="3272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51A6318-88B1-1F4D-9A70-95970391BAEC}"/>
              </a:ext>
            </a:extLst>
          </p:cNvPr>
          <p:cNvGrpSpPr/>
          <p:nvPr/>
        </p:nvGrpSpPr>
        <p:grpSpPr>
          <a:xfrm>
            <a:off x="5865423" y="3917546"/>
            <a:ext cx="6074012" cy="2697353"/>
            <a:chOff x="5754895" y="3917546"/>
            <a:chExt cx="6074012" cy="2697353"/>
          </a:xfrm>
        </p:grpSpPr>
        <p:pic>
          <p:nvPicPr>
            <p:cNvPr id="9" name="Picture 8" descr="Chart&#10;&#10;Description automatically generated">
              <a:extLst>
                <a:ext uri="{FF2B5EF4-FFF2-40B4-BE49-F238E27FC236}">
                  <a16:creationId xmlns:a16="http://schemas.microsoft.com/office/drawing/2014/main" id="{93F92CAB-13F3-1A42-89D3-369EA1DABA40}"/>
                </a:ext>
              </a:extLst>
            </p:cNvPr>
            <p:cNvPicPr>
              <a:picLocks noChangeAspect="1"/>
            </p:cNvPicPr>
            <p:nvPr/>
          </p:nvPicPr>
          <p:blipFill rotWithShape="1">
            <a:blip r:embed="rId3"/>
            <a:srcRect b="6842"/>
            <a:stretch/>
          </p:blipFill>
          <p:spPr>
            <a:xfrm>
              <a:off x="5754895" y="3957739"/>
              <a:ext cx="6074012" cy="2657160"/>
            </a:xfrm>
            <a:prstGeom prst="rect">
              <a:avLst/>
            </a:prstGeom>
          </p:spPr>
        </p:pic>
        <p:sp>
          <p:nvSpPr>
            <p:cNvPr id="15" name="Rectangle 14">
              <a:extLst>
                <a:ext uri="{FF2B5EF4-FFF2-40B4-BE49-F238E27FC236}">
                  <a16:creationId xmlns:a16="http://schemas.microsoft.com/office/drawing/2014/main" id="{01496900-3A3D-D244-B032-C328D9F8BA13}"/>
                </a:ext>
              </a:extLst>
            </p:cNvPr>
            <p:cNvSpPr/>
            <p:nvPr/>
          </p:nvSpPr>
          <p:spPr>
            <a:xfrm>
              <a:off x="5870925" y="3957739"/>
              <a:ext cx="369766" cy="3272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9D9091-E3F8-8545-B32D-0F370118F64D}"/>
                </a:ext>
              </a:extLst>
            </p:cNvPr>
            <p:cNvSpPr/>
            <p:nvPr/>
          </p:nvSpPr>
          <p:spPr>
            <a:xfrm>
              <a:off x="8690153" y="3917546"/>
              <a:ext cx="369766" cy="3272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descr="Graphical user interface, diagram&#10;&#10;Description automatically generated">
            <a:extLst>
              <a:ext uri="{FF2B5EF4-FFF2-40B4-BE49-F238E27FC236}">
                <a16:creationId xmlns:a16="http://schemas.microsoft.com/office/drawing/2014/main" id="{54CFDFA0-C34A-5848-901D-A1C2A7F8B6D4}"/>
              </a:ext>
            </a:extLst>
          </p:cNvPr>
          <p:cNvPicPr>
            <a:picLocks noChangeAspect="1"/>
          </p:cNvPicPr>
          <p:nvPr/>
        </p:nvPicPr>
        <p:blipFill>
          <a:blip r:embed="rId4"/>
          <a:stretch>
            <a:fillRect/>
          </a:stretch>
        </p:blipFill>
        <p:spPr>
          <a:xfrm>
            <a:off x="5533752" y="1084724"/>
            <a:ext cx="6589466" cy="5518800"/>
          </a:xfrm>
          <a:prstGeom prst="rect">
            <a:avLst/>
          </a:prstGeom>
        </p:spPr>
      </p:pic>
      <p:sp>
        <p:nvSpPr>
          <p:cNvPr id="19" name="Rectangle 18">
            <a:extLst>
              <a:ext uri="{FF2B5EF4-FFF2-40B4-BE49-F238E27FC236}">
                <a16:creationId xmlns:a16="http://schemas.microsoft.com/office/drawing/2014/main" id="{F6B5CD9E-AEC6-2643-A7C0-AF17A071815B}"/>
              </a:ext>
            </a:extLst>
          </p:cNvPr>
          <p:cNvSpPr/>
          <p:nvPr/>
        </p:nvSpPr>
        <p:spPr>
          <a:xfrm>
            <a:off x="5556739" y="1084725"/>
            <a:ext cx="6566479" cy="5518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0FA78079-8B06-E449-B038-D0FDC0810B94}"/>
              </a:ext>
            </a:extLst>
          </p:cNvPr>
          <p:cNvGrpSpPr/>
          <p:nvPr/>
        </p:nvGrpSpPr>
        <p:grpSpPr>
          <a:xfrm>
            <a:off x="6589195" y="1090714"/>
            <a:ext cx="4894992" cy="2531435"/>
            <a:chOff x="6589195" y="1090714"/>
            <a:chExt cx="4894992" cy="2531435"/>
          </a:xfrm>
        </p:grpSpPr>
        <p:grpSp>
          <p:nvGrpSpPr>
            <p:cNvPr id="20" name="Group 19">
              <a:extLst>
                <a:ext uri="{FF2B5EF4-FFF2-40B4-BE49-F238E27FC236}">
                  <a16:creationId xmlns:a16="http://schemas.microsoft.com/office/drawing/2014/main" id="{33AB05F4-FC76-8C40-8E46-76D5848F7753}"/>
                </a:ext>
              </a:extLst>
            </p:cNvPr>
            <p:cNvGrpSpPr/>
            <p:nvPr/>
          </p:nvGrpSpPr>
          <p:grpSpPr>
            <a:xfrm>
              <a:off x="7487751" y="1090714"/>
              <a:ext cx="3996436" cy="2531435"/>
              <a:chOff x="265383" y="2104214"/>
              <a:chExt cx="5690795" cy="3604681"/>
            </a:xfrm>
          </p:grpSpPr>
          <p:pic>
            <p:nvPicPr>
              <p:cNvPr id="21" name="Picture 20" descr="Chart&#10;&#10;Description automatically generated with medium confidence">
                <a:extLst>
                  <a:ext uri="{FF2B5EF4-FFF2-40B4-BE49-F238E27FC236}">
                    <a16:creationId xmlns:a16="http://schemas.microsoft.com/office/drawing/2014/main" id="{58DC3838-D87E-2D44-8D8F-A8D773A2571B}"/>
                  </a:ext>
                </a:extLst>
              </p:cNvPr>
              <p:cNvPicPr>
                <a:picLocks noChangeAspect="1"/>
              </p:cNvPicPr>
              <p:nvPr/>
            </p:nvPicPr>
            <p:blipFill>
              <a:blip r:embed="rId5"/>
              <a:stretch>
                <a:fillRect/>
              </a:stretch>
            </p:blipFill>
            <p:spPr>
              <a:xfrm>
                <a:off x="265383" y="2104214"/>
                <a:ext cx="5690795" cy="3604681"/>
              </a:xfrm>
              <a:prstGeom prst="rect">
                <a:avLst/>
              </a:prstGeom>
            </p:spPr>
          </p:pic>
          <p:sp>
            <p:nvSpPr>
              <p:cNvPr id="22" name="Rectangle 21">
                <a:extLst>
                  <a:ext uri="{FF2B5EF4-FFF2-40B4-BE49-F238E27FC236}">
                    <a16:creationId xmlns:a16="http://schemas.microsoft.com/office/drawing/2014/main" id="{18E6C36B-C4CD-6F4C-83B7-335B56DF1189}"/>
                  </a:ext>
                </a:extLst>
              </p:cNvPr>
              <p:cNvSpPr/>
              <p:nvPr/>
            </p:nvSpPr>
            <p:spPr>
              <a:xfrm>
                <a:off x="361741" y="2196487"/>
                <a:ext cx="361740" cy="3156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TextBox 25">
              <a:extLst>
                <a:ext uri="{FF2B5EF4-FFF2-40B4-BE49-F238E27FC236}">
                  <a16:creationId xmlns:a16="http://schemas.microsoft.com/office/drawing/2014/main" id="{B411F097-2863-5B41-9748-A24A500FCAC5}"/>
                </a:ext>
              </a:extLst>
            </p:cNvPr>
            <p:cNvSpPr txBox="1"/>
            <p:nvPr/>
          </p:nvSpPr>
          <p:spPr>
            <a:xfrm rot="16200000">
              <a:off x="5788655" y="2289565"/>
              <a:ext cx="2124299" cy="523220"/>
            </a:xfrm>
            <a:prstGeom prst="rect">
              <a:avLst/>
            </a:prstGeom>
            <a:noFill/>
          </p:spPr>
          <p:txBody>
            <a:bodyPr wrap="none" rtlCol="0">
              <a:spAutoFit/>
            </a:bodyPr>
            <a:lstStyle/>
            <a:p>
              <a:pPr algn="ctr"/>
              <a:r>
                <a:rPr lang="en-US" b="1" dirty="0"/>
                <a:t>HEK293T</a:t>
              </a:r>
            </a:p>
            <a:p>
              <a:pPr algn="ctr"/>
              <a:r>
                <a:rPr lang="en-US" dirty="0"/>
                <a:t>(no B-globin expression)</a:t>
              </a:r>
            </a:p>
          </p:txBody>
        </p:sp>
      </p:grpSp>
      <p:grpSp>
        <p:nvGrpSpPr>
          <p:cNvPr id="29" name="Group 28">
            <a:extLst>
              <a:ext uri="{FF2B5EF4-FFF2-40B4-BE49-F238E27FC236}">
                <a16:creationId xmlns:a16="http://schemas.microsoft.com/office/drawing/2014/main" id="{4A41E162-5A11-064A-B02F-E34FD91FC764}"/>
              </a:ext>
            </a:extLst>
          </p:cNvPr>
          <p:cNvGrpSpPr/>
          <p:nvPr/>
        </p:nvGrpSpPr>
        <p:grpSpPr>
          <a:xfrm>
            <a:off x="6582886" y="3675946"/>
            <a:ext cx="5042841" cy="3106121"/>
            <a:chOff x="6582886" y="3675946"/>
            <a:chExt cx="5042841" cy="3106121"/>
          </a:xfrm>
        </p:grpSpPr>
        <p:grpSp>
          <p:nvGrpSpPr>
            <p:cNvPr id="23" name="Group 22">
              <a:extLst>
                <a:ext uri="{FF2B5EF4-FFF2-40B4-BE49-F238E27FC236}">
                  <a16:creationId xmlns:a16="http://schemas.microsoft.com/office/drawing/2014/main" id="{5751BE3D-08BC-8A42-ABEA-D5E013EA3CE1}"/>
                </a:ext>
              </a:extLst>
            </p:cNvPr>
            <p:cNvGrpSpPr/>
            <p:nvPr/>
          </p:nvGrpSpPr>
          <p:grpSpPr>
            <a:xfrm>
              <a:off x="7107052" y="3675946"/>
              <a:ext cx="4518675" cy="2956416"/>
              <a:chOff x="5773403" y="2180490"/>
              <a:chExt cx="6013290" cy="3959352"/>
            </a:xfrm>
          </p:grpSpPr>
          <p:pic>
            <p:nvPicPr>
              <p:cNvPr id="24" name="Picture 23" descr="A picture containing chart&#10;&#10;Description automatically generated">
                <a:extLst>
                  <a:ext uri="{FF2B5EF4-FFF2-40B4-BE49-F238E27FC236}">
                    <a16:creationId xmlns:a16="http://schemas.microsoft.com/office/drawing/2014/main" id="{AC18DF65-6BEA-2F4A-A4C0-EA1C6026E5F5}"/>
                  </a:ext>
                </a:extLst>
              </p:cNvPr>
              <p:cNvPicPr>
                <a:picLocks noChangeAspect="1"/>
              </p:cNvPicPr>
              <p:nvPr/>
            </p:nvPicPr>
            <p:blipFill rotWithShape="1">
              <a:blip r:embed="rId6"/>
              <a:srcRect t="2105"/>
              <a:stretch/>
            </p:blipFill>
            <p:spPr>
              <a:xfrm>
                <a:off x="5773403" y="2180490"/>
                <a:ext cx="6013290" cy="3959352"/>
              </a:xfrm>
              <a:prstGeom prst="rect">
                <a:avLst/>
              </a:prstGeom>
            </p:spPr>
          </p:pic>
          <p:sp>
            <p:nvSpPr>
              <p:cNvPr id="25" name="Rectangle 24">
                <a:extLst>
                  <a:ext uri="{FF2B5EF4-FFF2-40B4-BE49-F238E27FC236}">
                    <a16:creationId xmlns:a16="http://schemas.microsoft.com/office/drawing/2014/main" id="{7994B8CC-B18D-5740-BCF4-764C178DA279}"/>
                  </a:ext>
                </a:extLst>
              </p:cNvPr>
              <p:cNvSpPr/>
              <p:nvPr/>
            </p:nvSpPr>
            <p:spPr>
              <a:xfrm>
                <a:off x="6096000" y="2354287"/>
                <a:ext cx="361740" cy="3156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E0D2B526-2D45-D04F-91B7-E4F44CF5E258}"/>
                </a:ext>
              </a:extLst>
            </p:cNvPr>
            <p:cNvSpPr txBox="1"/>
            <p:nvPr/>
          </p:nvSpPr>
          <p:spPr>
            <a:xfrm rot="16200000">
              <a:off x="5433693" y="5109654"/>
              <a:ext cx="2821606" cy="523220"/>
            </a:xfrm>
            <a:prstGeom prst="rect">
              <a:avLst/>
            </a:prstGeom>
            <a:noFill/>
          </p:spPr>
          <p:txBody>
            <a:bodyPr wrap="none" rtlCol="0">
              <a:spAutoFit/>
            </a:bodyPr>
            <a:lstStyle/>
            <a:p>
              <a:pPr algn="ctr"/>
              <a:r>
                <a:rPr lang="en-US" b="1" dirty="0"/>
                <a:t>K562</a:t>
              </a:r>
            </a:p>
            <a:p>
              <a:pPr algn="ctr"/>
              <a:r>
                <a:rPr lang="en-US" dirty="0"/>
                <a:t>(constitutive B-globin expression)</a:t>
              </a:r>
            </a:p>
          </p:txBody>
        </p:sp>
      </p:grpSp>
    </p:spTree>
    <p:extLst>
      <p:ext uri="{BB962C8B-B14F-4D97-AF65-F5344CB8AC3E}">
        <p14:creationId xmlns:p14="http://schemas.microsoft.com/office/powerpoint/2010/main" val="124271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14B1-FBA8-004A-A7F4-580E5C173B5C}"/>
              </a:ext>
            </a:extLst>
          </p:cNvPr>
          <p:cNvSpPr>
            <a:spLocks noGrp="1"/>
          </p:cNvSpPr>
          <p:nvPr>
            <p:ph type="title"/>
          </p:nvPr>
        </p:nvSpPr>
        <p:spPr>
          <a:xfrm>
            <a:off x="618796" y="1496773"/>
            <a:ext cx="10954407" cy="1098951"/>
          </a:xfrm>
        </p:spPr>
        <p:txBody>
          <a:bodyPr>
            <a:noAutofit/>
          </a:bodyPr>
          <a:lstStyle/>
          <a:p>
            <a:pPr algn="ctr"/>
            <a:r>
              <a:rPr lang="en-US" sz="4400" dirty="0"/>
              <a:t>How are enhancers experimentally identified?</a:t>
            </a:r>
          </a:p>
        </p:txBody>
      </p:sp>
      <p:sp>
        <p:nvSpPr>
          <p:cNvPr id="3" name="Title 1">
            <a:extLst>
              <a:ext uri="{FF2B5EF4-FFF2-40B4-BE49-F238E27FC236}">
                <a16:creationId xmlns:a16="http://schemas.microsoft.com/office/drawing/2014/main" id="{10EFA67B-1959-CE4E-9743-EF49AB094DEB}"/>
              </a:ext>
            </a:extLst>
          </p:cNvPr>
          <p:cNvSpPr txBox="1">
            <a:spLocks/>
          </p:cNvSpPr>
          <p:nvPr/>
        </p:nvSpPr>
        <p:spPr>
          <a:xfrm>
            <a:off x="4304371" y="2879524"/>
            <a:ext cx="3902927" cy="10989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5171"/>
              </a:buClr>
              <a:buSzPts val="3200"/>
              <a:buFont typeface="Calibri"/>
              <a:buNone/>
              <a:defRPr sz="3200" b="0" i="0" u="none" strike="noStrike" cap="none">
                <a:solidFill>
                  <a:srgbClr val="01517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Genomic methods</a:t>
            </a:r>
          </a:p>
          <a:p>
            <a:endParaRPr lang="en-US" dirty="0"/>
          </a:p>
          <a:p>
            <a:r>
              <a:rPr lang="en-US" dirty="0"/>
              <a:t>Functional methods</a:t>
            </a:r>
          </a:p>
        </p:txBody>
      </p:sp>
    </p:spTree>
    <p:extLst>
      <p:ext uri="{BB962C8B-B14F-4D97-AF65-F5344CB8AC3E}">
        <p14:creationId xmlns:p14="http://schemas.microsoft.com/office/powerpoint/2010/main" val="234001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14B1-FBA8-004A-A7F4-580E5C173B5C}"/>
              </a:ext>
            </a:extLst>
          </p:cNvPr>
          <p:cNvSpPr>
            <a:spLocks noGrp="1"/>
          </p:cNvSpPr>
          <p:nvPr>
            <p:ph type="title"/>
          </p:nvPr>
        </p:nvSpPr>
        <p:spPr>
          <a:xfrm>
            <a:off x="618796" y="1496773"/>
            <a:ext cx="10954407" cy="1098951"/>
          </a:xfrm>
        </p:spPr>
        <p:txBody>
          <a:bodyPr>
            <a:noAutofit/>
          </a:bodyPr>
          <a:lstStyle/>
          <a:p>
            <a:pPr algn="ctr"/>
            <a:r>
              <a:rPr lang="en-US" sz="4400" dirty="0"/>
              <a:t>How are enhancers experimentally identified?</a:t>
            </a:r>
          </a:p>
        </p:txBody>
      </p:sp>
      <p:sp>
        <p:nvSpPr>
          <p:cNvPr id="3" name="Title 1">
            <a:extLst>
              <a:ext uri="{FF2B5EF4-FFF2-40B4-BE49-F238E27FC236}">
                <a16:creationId xmlns:a16="http://schemas.microsoft.com/office/drawing/2014/main" id="{10EFA67B-1959-CE4E-9743-EF49AB094DEB}"/>
              </a:ext>
            </a:extLst>
          </p:cNvPr>
          <p:cNvSpPr txBox="1">
            <a:spLocks/>
          </p:cNvSpPr>
          <p:nvPr/>
        </p:nvSpPr>
        <p:spPr>
          <a:xfrm>
            <a:off x="4304371" y="2879524"/>
            <a:ext cx="3902927" cy="10989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5171"/>
              </a:buClr>
              <a:buSzPts val="3200"/>
              <a:buFont typeface="Calibri"/>
              <a:buNone/>
              <a:defRPr sz="3200" b="0" i="0" u="none" strike="noStrike" cap="none">
                <a:solidFill>
                  <a:srgbClr val="01517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t>Genomic methods</a:t>
            </a:r>
          </a:p>
          <a:p>
            <a:endParaRPr lang="en-US" dirty="0"/>
          </a:p>
          <a:p>
            <a:r>
              <a:rPr lang="en-US" dirty="0"/>
              <a:t>Functional methods</a:t>
            </a:r>
          </a:p>
        </p:txBody>
      </p:sp>
    </p:spTree>
    <p:extLst>
      <p:ext uri="{BB962C8B-B14F-4D97-AF65-F5344CB8AC3E}">
        <p14:creationId xmlns:p14="http://schemas.microsoft.com/office/powerpoint/2010/main" val="395826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D2B4F-427F-8B4F-B92A-E184F994E0FF}"/>
              </a:ext>
            </a:extLst>
          </p:cNvPr>
          <p:cNvSpPr>
            <a:spLocks noGrp="1"/>
          </p:cNvSpPr>
          <p:nvPr>
            <p:ph type="title"/>
          </p:nvPr>
        </p:nvSpPr>
        <p:spPr/>
        <p:txBody>
          <a:bodyPr/>
          <a:lstStyle/>
          <a:p>
            <a:r>
              <a:rPr lang="en-US" dirty="0"/>
              <a:t>Genomic methods for enhancer identification</a:t>
            </a:r>
          </a:p>
        </p:txBody>
      </p:sp>
      <p:sp>
        <p:nvSpPr>
          <p:cNvPr id="3" name="TextBox 2">
            <a:extLst>
              <a:ext uri="{FF2B5EF4-FFF2-40B4-BE49-F238E27FC236}">
                <a16:creationId xmlns:a16="http://schemas.microsoft.com/office/drawing/2014/main" id="{9EB77427-CFE5-FD49-9891-7A20B6E2A1CE}"/>
              </a:ext>
            </a:extLst>
          </p:cNvPr>
          <p:cNvSpPr txBox="1"/>
          <p:nvPr/>
        </p:nvSpPr>
        <p:spPr>
          <a:xfrm>
            <a:off x="552892" y="3583171"/>
            <a:ext cx="10388009" cy="3539430"/>
          </a:xfrm>
          <a:prstGeom prst="rect">
            <a:avLst/>
          </a:prstGeom>
          <a:noFill/>
        </p:spPr>
        <p:txBody>
          <a:bodyPr wrap="square" rtlCol="0">
            <a:spAutoFit/>
          </a:bodyPr>
          <a:lstStyle/>
          <a:p>
            <a:r>
              <a:rPr lang="en-US" dirty="0"/>
              <a:t>Since enhancer function is dependent upon TF binding, </a:t>
            </a:r>
            <a:r>
              <a:rPr lang="en-US" b="1" dirty="0" err="1"/>
              <a:t>ChIP</a:t>
            </a:r>
            <a:r>
              <a:rPr lang="en-US" b="1" dirty="0"/>
              <a:t>-seq against a known TF</a:t>
            </a:r>
            <a:r>
              <a:rPr lang="en-US" dirty="0"/>
              <a:t> is a common way to identify enhancers via identification of TF binding sites</a:t>
            </a:r>
          </a:p>
          <a:p>
            <a:endParaRPr lang="en-US" dirty="0"/>
          </a:p>
          <a:p>
            <a:r>
              <a:rPr lang="en-US" dirty="0"/>
              <a:t>Since active enhancers are depleted of nucleosomes and contain accessible chromatin to be permissive to TF binding, </a:t>
            </a:r>
            <a:r>
              <a:rPr lang="en-US" b="1" dirty="0" err="1"/>
              <a:t>DNAse</a:t>
            </a:r>
            <a:r>
              <a:rPr lang="en-US" b="1" dirty="0"/>
              <a:t>-seq or ATAC-seq </a:t>
            </a:r>
            <a:r>
              <a:rPr lang="en-US" dirty="0"/>
              <a:t>can be used to identify accessible DNA regions</a:t>
            </a:r>
            <a:endParaRPr lang="en-US" b="1" dirty="0"/>
          </a:p>
          <a:p>
            <a:endParaRPr lang="en-US" dirty="0"/>
          </a:p>
          <a:p>
            <a:r>
              <a:rPr lang="en-US" dirty="0"/>
              <a:t>Nucleosomes flanking enhancers carry specific, characteristic post-translational modifications which can be identified using </a:t>
            </a:r>
            <a:r>
              <a:rPr lang="en-US" b="1" dirty="0" err="1"/>
              <a:t>ChIP</a:t>
            </a:r>
            <a:r>
              <a:rPr lang="en-US" b="1" dirty="0"/>
              <a:t>-seq against histone marks (H3K4me1 and H3K27ac)</a:t>
            </a:r>
          </a:p>
          <a:p>
            <a:endParaRPr lang="en-US" b="1" dirty="0"/>
          </a:p>
          <a:p>
            <a:r>
              <a:rPr lang="en-US" dirty="0"/>
              <a:t>“The predictions of enhancers using histone marks is now widely used, for example, in the annotation of genome-wide functional elements by individual groups and international consortia, and it agrees well with enhancer activity assays.” (</a:t>
            </a:r>
            <a:r>
              <a:rPr lang="en-US" dirty="0" err="1"/>
              <a:t>Shlyueva</a:t>
            </a:r>
            <a:r>
              <a:rPr lang="en-US" dirty="0"/>
              <a:t>, </a:t>
            </a:r>
            <a:r>
              <a:rPr lang="en-US" dirty="0" err="1"/>
              <a:t>Stampfel</a:t>
            </a:r>
            <a:r>
              <a:rPr lang="en-US" dirty="0"/>
              <a:t>, &amp; Stark)</a:t>
            </a:r>
            <a:endParaRPr lang="en-US" b="1" dirty="0"/>
          </a:p>
          <a:p>
            <a:endParaRPr lang="en-US" dirty="0"/>
          </a:p>
          <a:p>
            <a:endParaRPr lang="en-US" dirty="0"/>
          </a:p>
          <a:p>
            <a:endParaRPr lang="en-US" dirty="0"/>
          </a:p>
          <a:p>
            <a:endParaRPr lang="en-US" dirty="0"/>
          </a:p>
        </p:txBody>
      </p:sp>
      <p:pic>
        <p:nvPicPr>
          <p:cNvPr id="13" name="Picture 12" descr="A picture containing diagram&#10;&#10;Description automatically generated">
            <a:extLst>
              <a:ext uri="{FF2B5EF4-FFF2-40B4-BE49-F238E27FC236}">
                <a16:creationId xmlns:a16="http://schemas.microsoft.com/office/drawing/2014/main" id="{76D3D36D-4EBE-ED44-BB58-9646B1322119}"/>
              </a:ext>
            </a:extLst>
          </p:cNvPr>
          <p:cNvPicPr>
            <a:picLocks noChangeAspect="1"/>
          </p:cNvPicPr>
          <p:nvPr/>
        </p:nvPicPr>
        <p:blipFill>
          <a:blip r:embed="rId2"/>
          <a:stretch>
            <a:fillRect/>
          </a:stretch>
        </p:blipFill>
        <p:spPr>
          <a:xfrm>
            <a:off x="939946" y="1181100"/>
            <a:ext cx="9613900" cy="2247900"/>
          </a:xfrm>
          <a:prstGeom prst="rect">
            <a:avLst/>
          </a:prstGeom>
        </p:spPr>
      </p:pic>
      <p:sp>
        <p:nvSpPr>
          <p:cNvPr id="14" name="Rectangle 13">
            <a:extLst>
              <a:ext uri="{FF2B5EF4-FFF2-40B4-BE49-F238E27FC236}">
                <a16:creationId xmlns:a16="http://schemas.microsoft.com/office/drawing/2014/main" id="{3BD4028A-9413-EC4D-A7B0-BC67FBA335A5}"/>
              </a:ext>
            </a:extLst>
          </p:cNvPr>
          <p:cNvSpPr/>
          <p:nvPr/>
        </p:nvSpPr>
        <p:spPr>
          <a:xfrm>
            <a:off x="3813717" y="1181100"/>
            <a:ext cx="3568390" cy="2247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380791-4741-F049-A290-4F539C92FD14}"/>
              </a:ext>
            </a:extLst>
          </p:cNvPr>
          <p:cNvSpPr/>
          <p:nvPr/>
        </p:nvSpPr>
        <p:spPr>
          <a:xfrm>
            <a:off x="7300805" y="919046"/>
            <a:ext cx="3103283" cy="25099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706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D2B4F-427F-8B4F-B92A-E184F994E0FF}"/>
              </a:ext>
            </a:extLst>
          </p:cNvPr>
          <p:cNvSpPr>
            <a:spLocks noGrp="1"/>
          </p:cNvSpPr>
          <p:nvPr>
            <p:ph type="title"/>
          </p:nvPr>
        </p:nvSpPr>
        <p:spPr/>
        <p:txBody>
          <a:bodyPr/>
          <a:lstStyle/>
          <a:p>
            <a:r>
              <a:rPr lang="en-US" dirty="0"/>
              <a:t>Genomic methods for enhancer identification</a:t>
            </a:r>
          </a:p>
        </p:txBody>
      </p:sp>
      <p:grpSp>
        <p:nvGrpSpPr>
          <p:cNvPr id="6" name="Group 5">
            <a:extLst>
              <a:ext uri="{FF2B5EF4-FFF2-40B4-BE49-F238E27FC236}">
                <a16:creationId xmlns:a16="http://schemas.microsoft.com/office/drawing/2014/main" id="{DE9360F0-A26C-EE42-AA5F-72842D4CC183}"/>
              </a:ext>
            </a:extLst>
          </p:cNvPr>
          <p:cNvGrpSpPr/>
          <p:nvPr/>
        </p:nvGrpSpPr>
        <p:grpSpPr>
          <a:xfrm>
            <a:off x="5795934" y="1104308"/>
            <a:ext cx="6070600" cy="5308600"/>
            <a:chOff x="5795934" y="1104308"/>
            <a:chExt cx="6070600" cy="5308600"/>
          </a:xfrm>
        </p:grpSpPr>
        <p:pic>
          <p:nvPicPr>
            <p:cNvPr id="5" name="Picture 4" descr="Diagram&#10;&#10;Description automatically generated">
              <a:extLst>
                <a:ext uri="{FF2B5EF4-FFF2-40B4-BE49-F238E27FC236}">
                  <a16:creationId xmlns:a16="http://schemas.microsoft.com/office/drawing/2014/main" id="{D8356E4E-685F-A745-AF2C-1F9BEBCEFA32}"/>
                </a:ext>
              </a:extLst>
            </p:cNvPr>
            <p:cNvPicPr>
              <a:picLocks noChangeAspect="1"/>
            </p:cNvPicPr>
            <p:nvPr/>
          </p:nvPicPr>
          <p:blipFill>
            <a:blip r:embed="rId2"/>
            <a:stretch>
              <a:fillRect/>
            </a:stretch>
          </p:blipFill>
          <p:spPr>
            <a:xfrm>
              <a:off x="5795934" y="1104308"/>
              <a:ext cx="6070600" cy="5308600"/>
            </a:xfrm>
            <a:prstGeom prst="rect">
              <a:avLst/>
            </a:prstGeom>
          </p:spPr>
        </p:pic>
        <p:sp>
          <p:nvSpPr>
            <p:cNvPr id="7" name="Rectangle 6">
              <a:extLst>
                <a:ext uri="{FF2B5EF4-FFF2-40B4-BE49-F238E27FC236}">
                  <a16:creationId xmlns:a16="http://schemas.microsoft.com/office/drawing/2014/main" id="{8BE3E564-2243-DB4E-9843-97785E6BA37D}"/>
                </a:ext>
              </a:extLst>
            </p:cNvPr>
            <p:cNvSpPr/>
            <p:nvPr/>
          </p:nvSpPr>
          <p:spPr>
            <a:xfrm>
              <a:off x="5795934" y="2473152"/>
              <a:ext cx="588337" cy="3592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9EB77427-CFE5-FD49-9891-7A20B6E2A1CE}"/>
              </a:ext>
            </a:extLst>
          </p:cNvPr>
          <p:cNvSpPr txBox="1"/>
          <p:nvPr/>
        </p:nvSpPr>
        <p:spPr>
          <a:xfrm>
            <a:off x="325466" y="1352487"/>
            <a:ext cx="5662739" cy="4401205"/>
          </a:xfrm>
          <a:prstGeom prst="rect">
            <a:avLst/>
          </a:prstGeom>
          <a:noFill/>
        </p:spPr>
        <p:txBody>
          <a:bodyPr wrap="square" rtlCol="0">
            <a:spAutoFit/>
          </a:bodyPr>
          <a:lstStyle/>
          <a:p>
            <a:r>
              <a:rPr lang="en-US" b="1" dirty="0"/>
              <a:t>Problem: The above methods give no indication of which gene is being regulated by an enhancer!</a:t>
            </a:r>
          </a:p>
          <a:p>
            <a:endParaRPr lang="en-US" dirty="0"/>
          </a:p>
          <a:p>
            <a:r>
              <a:rPr lang="en-US" dirty="0"/>
              <a:t>Enhancers are physically brought into close spatial proximity with their target promoters to regulate gene expression. This can be exploited to identify enhancers and enhancer-gene relationships.</a:t>
            </a:r>
          </a:p>
          <a:p>
            <a:endParaRPr lang="en-US" dirty="0"/>
          </a:p>
          <a:p>
            <a:r>
              <a:rPr lang="en-US" b="1" dirty="0" err="1"/>
              <a:t>ChIA</a:t>
            </a:r>
            <a:r>
              <a:rPr lang="en-US" b="1" dirty="0"/>
              <a:t>-PET and </a:t>
            </a:r>
            <a:r>
              <a:rPr lang="en-US" b="1" dirty="0" err="1"/>
              <a:t>HiChIP</a:t>
            </a:r>
            <a:r>
              <a:rPr lang="en-US" b="1" dirty="0"/>
              <a:t> </a:t>
            </a:r>
            <a:r>
              <a:rPr lang="en-US" dirty="0"/>
              <a:t>essentially couple chromatin conformation capture technology (e.g. 3C,4C,5C,Hi-C) and </a:t>
            </a:r>
            <a:r>
              <a:rPr lang="en-US" dirty="0" err="1"/>
              <a:t>ChIP</a:t>
            </a:r>
            <a:r>
              <a:rPr lang="en-US" dirty="0"/>
              <a:t>-seq to identify enhancer-promoter interactions</a:t>
            </a:r>
          </a:p>
          <a:p>
            <a:endParaRPr lang="en-US" b="1" dirty="0"/>
          </a:p>
          <a:p>
            <a:r>
              <a:rPr lang="en-US" dirty="0"/>
              <a:t>These technologies simultaneously identify binding sites for proteins involved in the transcriptional machinery (via </a:t>
            </a:r>
            <a:r>
              <a:rPr lang="en-US" dirty="0" err="1"/>
              <a:t>ChIP</a:t>
            </a:r>
            <a:r>
              <a:rPr lang="en-US" dirty="0"/>
              <a:t>) and spatial proximity contacts (via Hi-C)</a:t>
            </a:r>
          </a:p>
          <a:p>
            <a:endParaRPr lang="en-US" dirty="0"/>
          </a:p>
          <a:p>
            <a:r>
              <a:rPr lang="en-US" b="1" dirty="0"/>
              <a:t>Common targets include:</a:t>
            </a:r>
          </a:p>
          <a:p>
            <a:pPr marL="285750" indent="-285750">
              <a:buFontTx/>
              <a:buChar char="-"/>
            </a:pPr>
            <a:r>
              <a:rPr lang="en-US" dirty="0"/>
              <a:t>Pol II </a:t>
            </a:r>
          </a:p>
          <a:p>
            <a:pPr marL="285750" indent="-285750">
              <a:buFontTx/>
              <a:buChar char="-"/>
            </a:pPr>
            <a:r>
              <a:rPr lang="en-US" dirty="0" err="1"/>
              <a:t>Cohesin</a:t>
            </a:r>
            <a:endParaRPr lang="en-US" dirty="0"/>
          </a:p>
          <a:p>
            <a:pPr marL="285750" indent="-285750">
              <a:buFontTx/>
              <a:buChar char="-"/>
            </a:pPr>
            <a:r>
              <a:rPr lang="en-US" dirty="0"/>
              <a:t>Mediator</a:t>
            </a:r>
          </a:p>
          <a:p>
            <a:pPr marL="285750" indent="-285750">
              <a:buFontTx/>
              <a:buChar char="-"/>
            </a:pPr>
            <a:r>
              <a:rPr lang="en-US" dirty="0"/>
              <a:t>H3K27ac</a:t>
            </a:r>
          </a:p>
        </p:txBody>
      </p:sp>
      <p:sp>
        <p:nvSpPr>
          <p:cNvPr id="8" name="Rectangle 7">
            <a:extLst>
              <a:ext uri="{FF2B5EF4-FFF2-40B4-BE49-F238E27FC236}">
                <a16:creationId xmlns:a16="http://schemas.microsoft.com/office/drawing/2014/main" id="{456C7474-E205-5247-A7C0-03AFC022118B}"/>
              </a:ext>
            </a:extLst>
          </p:cNvPr>
          <p:cNvSpPr/>
          <p:nvPr/>
        </p:nvSpPr>
        <p:spPr>
          <a:xfrm>
            <a:off x="602165" y="4806175"/>
            <a:ext cx="624468" cy="21187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36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F8113-CF77-FD46-A4F4-7ABD44D07C05}"/>
              </a:ext>
            </a:extLst>
          </p:cNvPr>
          <p:cNvSpPr>
            <a:spLocks noGrp="1"/>
          </p:cNvSpPr>
          <p:nvPr>
            <p:ph type="title"/>
          </p:nvPr>
        </p:nvSpPr>
        <p:spPr>
          <a:xfrm>
            <a:off x="0" y="231212"/>
            <a:ext cx="10515600" cy="1098951"/>
          </a:xfrm>
        </p:spPr>
        <p:txBody>
          <a:bodyPr/>
          <a:lstStyle/>
          <a:p>
            <a:r>
              <a:rPr lang="en-US" dirty="0"/>
              <a:t>Example: Enhancer-promoter looping with RNA Polymerase II</a:t>
            </a:r>
          </a:p>
        </p:txBody>
      </p:sp>
      <p:pic>
        <p:nvPicPr>
          <p:cNvPr id="5" name="Picture 4" descr="Graphical user interface&#10;&#10;Description automatically generated">
            <a:extLst>
              <a:ext uri="{FF2B5EF4-FFF2-40B4-BE49-F238E27FC236}">
                <a16:creationId xmlns:a16="http://schemas.microsoft.com/office/drawing/2014/main" id="{F9C27EB1-06F4-0B44-AA0C-FE383A366162}"/>
              </a:ext>
            </a:extLst>
          </p:cNvPr>
          <p:cNvPicPr>
            <a:picLocks noChangeAspect="1"/>
          </p:cNvPicPr>
          <p:nvPr/>
        </p:nvPicPr>
        <p:blipFill>
          <a:blip r:embed="rId2"/>
          <a:stretch>
            <a:fillRect/>
          </a:stretch>
        </p:blipFill>
        <p:spPr>
          <a:xfrm>
            <a:off x="446695" y="1468202"/>
            <a:ext cx="11298610" cy="3653965"/>
          </a:xfrm>
          <a:prstGeom prst="rect">
            <a:avLst/>
          </a:prstGeom>
        </p:spPr>
      </p:pic>
      <p:sp>
        <p:nvSpPr>
          <p:cNvPr id="6" name="TextBox 5">
            <a:extLst>
              <a:ext uri="{FF2B5EF4-FFF2-40B4-BE49-F238E27FC236}">
                <a16:creationId xmlns:a16="http://schemas.microsoft.com/office/drawing/2014/main" id="{4EADFE0A-8F44-9C4B-BF6E-CF775EC9256B}"/>
              </a:ext>
            </a:extLst>
          </p:cNvPr>
          <p:cNvSpPr txBox="1"/>
          <p:nvPr/>
        </p:nvSpPr>
        <p:spPr>
          <a:xfrm>
            <a:off x="1330274" y="5495331"/>
            <a:ext cx="10415031" cy="738664"/>
          </a:xfrm>
          <a:prstGeom prst="rect">
            <a:avLst/>
          </a:prstGeom>
          <a:noFill/>
        </p:spPr>
        <p:txBody>
          <a:bodyPr wrap="none" rtlCol="0">
            <a:spAutoFit/>
          </a:bodyPr>
          <a:lstStyle/>
          <a:p>
            <a:pPr algn="ctr"/>
            <a:r>
              <a:rPr lang="en-US" b="1" dirty="0"/>
              <a:t>Co-localization of accessible chromatin peaks (ATAC-seq) with POL2RA </a:t>
            </a:r>
            <a:r>
              <a:rPr lang="en-US" b="1" dirty="0" err="1"/>
              <a:t>ChIA</a:t>
            </a:r>
            <a:r>
              <a:rPr lang="en-US" b="1" dirty="0"/>
              <a:t>-PET can predict enhancer-promoter loops</a:t>
            </a:r>
          </a:p>
          <a:p>
            <a:pPr algn="ctr"/>
            <a:endParaRPr lang="en-US" b="1" dirty="0"/>
          </a:p>
          <a:p>
            <a:pPr algn="ctr"/>
            <a:r>
              <a:rPr lang="en-US" b="1" dirty="0"/>
              <a:t>HOWEVER, </a:t>
            </a:r>
            <a:r>
              <a:rPr lang="en-US" b="1" dirty="0" err="1"/>
              <a:t>ChIA</a:t>
            </a:r>
            <a:r>
              <a:rPr lang="en-US" b="1" dirty="0"/>
              <a:t>-PET/</a:t>
            </a:r>
            <a:r>
              <a:rPr lang="en-US" b="1" dirty="0" err="1"/>
              <a:t>HiChIP</a:t>
            </a:r>
            <a:r>
              <a:rPr lang="en-US" b="1" dirty="0"/>
              <a:t> datasets are pretty scarce making this an unreliable strategy</a:t>
            </a:r>
          </a:p>
        </p:txBody>
      </p:sp>
    </p:spTree>
    <p:extLst>
      <p:ext uri="{BB962C8B-B14F-4D97-AF65-F5344CB8AC3E}">
        <p14:creationId xmlns:p14="http://schemas.microsoft.com/office/powerpoint/2010/main" val="224066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15C16-5347-CF41-B895-AE707403B25F}"/>
              </a:ext>
            </a:extLst>
          </p:cNvPr>
          <p:cNvSpPr>
            <a:spLocks noGrp="1"/>
          </p:cNvSpPr>
          <p:nvPr>
            <p:ph type="title"/>
          </p:nvPr>
        </p:nvSpPr>
        <p:spPr/>
        <p:txBody>
          <a:bodyPr>
            <a:normAutofit fontScale="90000"/>
          </a:bodyPr>
          <a:lstStyle/>
          <a:p>
            <a:r>
              <a:rPr lang="en-US" b="1" dirty="0" err="1"/>
              <a:t>ChromHMM</a:t>
            </a:r>
            <a:r>
              <a:rPr lang="en-US" b="1" dirty="0"/>
              <a:t>: </a:t>
            </a:r>
            <a:r>
              <a:rPr lang="en-US" dirty="0"/>
              <a:t>Integrating multiple histone marks across diverse tissues into to annotate chromatin states genome-wide</a:t>
            </a:r>
          </a:p>
        </p:txBody>
      </p:sp>
      <p:pic>
        <p:nvPicPr>
          <p:cNvPr id="4" name="Picture 3" descr="Timeline&#10;&#10;Description automatically generated">
            <a:extLst>
              <a:ext uri="{FF2B5EF4-FFF2-40B4-BE49-F238E27FC236}">
                <a16:creationId xmlns:a16="http://schemas.microsoft.com/office/drawing/2014/main" id="{DA06BB82-2605-F246-9035-85EB9FBE001F}"/>
              </a:ext>
            </a:extLst>
          </p:cNvPr>
          <p:cNvPicPr>
            <a:picLocks noChangeAspect="1"/>
          </p:cNvPicPr>
          <p:nvPr/>
        </p:nvPicPr>
        <p:blipFill>
          <a:blip r:embed="rId2"/>
          <a:stretch>
            <a:fillRect/>
          </a:stretch>
        </p:blipFill>
        <p:spPr>
          <a:xfrm>
            <a:off x="1941429" y="1107846"/>
            <a:ext cx="8309142" cy="5385127"/>
          </a:xfrm>
          <a:prstGeom prst="rect">
            <a:avLst/>
          </a:prstGeom>
        </p:spPr>
      </p:pic>
      <p:sp>
        <p:nvSpPr>
          <p:cNvPr id="3" name="Rectangle 2">
            <a:extLst>
              <a:ext uri="{FF2B5EF4-FFF2-40B4-BE49-F238E27FC236}">
                <a16:creationId xmlns:a16="http://schemas.microsoft.com/office/drawing/2014/main" id="{C9A0C19D-C3C5-6645-936B-66E2E0316440}"/>
              </a:ext>
            </a:extLst>
          </p:cNvPr>
          <p:cNvSpPr/>
          <p:nvPr/>
        </p:nvSpPr>
        <p:spPr>
          <a:xfrm>
            <a:off x="7536264" y="4230356"/>
            <a:ext cx="2090057" cy="6933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agram&#10;&#10;Description automatically generated">
            <a:extLst>
              <a:ext uri="{FF2B5EF4-FFF2-40B4-BE49-F238E27FC236}">
                <a16:creationId xmlns:a16="http://schemas.microsoft.com/office/drawing/2014/main" id="{FFE43856-F339-0745-AD62-9FE31ED7E5A5}"/>
              </a:ext>
            </a:extLst>
          </p:cNvPr>
          <p:cNvPicPr>
            <a:picLocks noChangeAspect="1"/>
          </p:cNvPicPr>
          <p:nvPr/>
        </p:nvPicPr>
        <p:blipFill>
          <a:blip r:embed="rId3"/>
          <a:stretch>
            <a:fillRect/>
          </a:stretch>
        </p:blipFill>
        <p:spPr>
          <a:xfrm>
            <a:off x="197875" y="1107846"/>
            <a:ext cx="11374844" cy="5385816"/>
          </a:xfrm>
          <a:prstGeom prst="rect">
            <a:avLst/>
          </a:prstGeom>
        </p:spPr>
      </p:pic>
    </p:spTree>
    <p:extLst>
      <p:ext uri="{BB962C8B-B14F-4D97-AF65-F5344CB8AC3E}">
        <p14:creationId xmlns:p14="http://schemas.microsoft.com/office/powerpoint/2010/main" val="162252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14B1-FBA8-004A-A7F4-580E5C173B5C}"/>
              </a:ext>
            </a:extLst>
          </p:cNvPr>
          <p:cNvSpPr>
            <a:spLocks noGrp="1"/>
          </p:cNvSpPr>
          <p:nvPr>
            <p:ph type="title"/>
          </p:nvPr>
        </p:nvSpPr>
        <p:spPr>
          <a:xfrm>
            <a:off x="618796" y="1496773"/>
            <a:ext cx="10954407" cy="1098951"/>
          </a:xfrm>
        </p:spPr>
        <p:txBody>
          <a:bodyPr>
            <a:noAutofit/>
          </a:bodyPr>
          <a:lstStyle/>
          <a:p>
            <a:pPr algn="ctr"/>
            <a:r>
              <a:rPr lang="en-US" sz="4400" dirty="0"/>
              <a:t>How are enhancers experimentally identified?</a:t>
            </a:r>
          </a:p>
        </p:txBody>
      </p:sp>
      <p:sp>
        <p:nvSpPr>
          <p:cNvPr id="3" name="Title 1">
            <a:extLst>
              <a:ext uri="{FF2B5EF4-FFF2-40B4-BE49-F238E27FC236}">
                <a16:creationId xmlns:a16="http://schemas.microsoft.com/office/drawing/2014/main" id="{10EFA67B-1959-CE4E-9743-EF49AB094DEB}"/>
              </a:ext>
            </a:extLst>
          </p:cNvPr>
          <p:cNvSpPr txBox="1">
            <a:spLocks/>
          </p:cNvSpPr>
          <p:nvPr/>
        </p:nvSpPr>
        <p:spPr>
          <a:xfrm>
            <a:off x="4304371" y="2879524"/>
            <a:ext cx="3902927" cy="10989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5171"/>
              </a:buClr>
              <a:buSzPts val="3200"/>
              <a:buFont typeface="Calibri"/>
              <a:buNone/>
              <a:defRPr sz="3200" b="0" i="0" u="none" strike="noStrike" cap="none">
                <a:solidFill>
                  <a:srgbClr val="01517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Genomic methods</a:t>
            </a:r>
          </a:p>
          <a:p>
            <a:endParaRPr lang="en-US" dirty="0"/>
          </a:p>
          <a:p>
            <a:r>
              <a:rPr lang="en-US" b="1" dirty="0"/>
              <a:t>Functional methods</a:t>
            </a:r>
          </a:p>
        </p:txBody>
      </p:sp>
    </p:spTree>
    <p:extLst>
      <p:ext uri="{BB962C8B-B14F-4D97-AF65-F5344CB8AC3E}">
        <p14:creationId xmlns:p14="http://schemas.microsoft.com/office/powerpoint/2010/main" val="2797188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C9031-DE6F-2B43-A05B-F179F7485732}"/>
              </a:ext>
            </a:extLst>
          </p:cNvPr>
          <p:cNvSpPr>
            <a:spLocks noGrp="1"/>
          </p:cNvSpPr>
          <p:nvPr>
            <p:ph type="title"/>
          </p:nvPr>
        </p:nvSpPr>
        <p:spPr/>
        <p:txBody>
          <a:bodyPr/>
          <a:lstStyle/>
          <a:p>
            <a:r>
              <a:rPr lang="en-US" dirty="0"/>
              <a:t>Functional methods for enhancer identification</a:t>
            </a:r>
          </a:p>
        </p:txBody>
      </p:sp>
      <p:pic>
        <p:nvPicPr>
          <p:cNvPr id="4" name="Picture 3" descr="Diagram&#10;&#10;Description automatically generated">
            <a:extLst>
              <a:ext uri="{FF2B5EF4-FFF2-40B4-BE49-F238E27FC236}">
                <a16:creationId xmlns:a16="http://schemas.microsoft.com/office/drawing/2014/main" id="{933D63B1-E4C8-CB4E-B2D6-86263E7BE7B2}"/>
              </a:ext>
            </a:extLst>
          </p:cNvPr>
          <p:cNvPicPr>
            <a:picLocks noChangeAspect="1"/>
          </p:cNvPicPr>
          <p:nvPr/>
        </p:nvPicPr>
        <p:blipFill>
          <a:blip r:embed="rId2"/>
          <a:stretch>
            <a:fillRect/>
          </a:stretch>
        </p:blipFill>
        <p:spPr>
          <a:xfrm>
            <a:off x="6542868" y="1231742"/>
            <a:ext cx="5294684" cy="5294684"/>
          </a:xfrm>
          <a:prstGeom prst="rect">
            <a:avLst/>
          </a:prstGeom>
        </p:spPr>
      </p:pic>
      <p:sp>
        <p:nvSpPr>
          <p:cNvPr id="5" name="TextBox 4">
            <a:extLst>
              <a:ext uri="{FF2B5EF4-FFF2-40B4-BE49-F238E27FC236}">
                <a16:creationId xmlns:a16="http://schemas.microsoft.com/office/drawing/2014/main" id="{D5FAB007-64F6-D143-AF8A-E9B479CA32F2}"/>
              </a:ext>
            </a:extLst>
          </p:cNvPr>
          <p:cNvSpPr txBox="1"/>
          <p:nvPr/>
        </p:nvSpPr>
        <p:spPr>
          <a:xfrm>
            <a:off x="401591" y="2556108"/>
            <a:ext cx="6141277" cy="3970318"/>
          </a:xfrm>
          <a:prstGeom prst="rect">
            <a:avLst/>
          </a:prstGeom>
          <a:noFill/>
        </p:spPr>
        <p:txBody>
          <a:bodyPr wrap="square" rtlCol="0">
            <a:spAutoFit/>
          </a:bodyPr>
          <a:lstStyle/>
          <a:p>
            <a:r>
              <a:rPr lang="en-US" b="1" u="sng" dirty="0"/>
              <a:t>Image-based enhancer identification:</a:t>
            </a:r>
          </a:p>
          <a:p>
            <a:endParaRPr lang="en-US" b="1" dirty="0"/>
          </a:p>
          <a:p>
            <a:r>
              <a:rPr lang="en-US" dirty="0"/>
              <a:t>DNA regions can be tested for for their ability to activate or enhance transcription by cloning the DNA region upstream from a minimal core promoter driving GFP</a:t>
            </a:r>
          </a:p>
          <a:p>
            <a:endParaRPr lang="en-US" b="1" dirty="0"/>
          </a:p>
          <a:p>
            <a:r>
              <a:rPr lang="en-US" dirty="0"/>
              <a:t>This activity, independent of the enhancer’s native sequence context, is the defining property of enhancers and is used as the </a:t>
            </a:r>
            <a:r>
              <a:rPr lang="en-US" b="1" dirty="0"/>
              <a:t>gold standard </a:t>
            </a:r>
            <a:r>
              <a:rPr lang="en-US" dirty="0"/>
              <a:t>in enhancer prediction</a:t>
            </a:r>
          </a:p>
          <a:p>
            <a:endParaRPr lang="en-US" dirty="0"/>
          </a:p>
          <a:p>
            <a:r>
              <a:rPr lang="en-US" dirty="0"/>
              <a:t>Image-based enhancer identification is frequently used in developmental biology to identify enhancers that drive lineage-specific cellular differentiation</a:t>
            </a:r>
          </a:p>
          <a:p>
            <a:endParaRPr lang="en-US" dirty="0"/>
          </a:p>
          <a:p>
            <a:r>
              <a:rPr lang="en-US" dirty="0"/>
              <a:t>Since these image-based enhancer identification experiments require generation of transgenic animals, they are not suitable for genome-wide enhancer screens</a:t>
            </a:r>
          </a:p>
          <a:p>
            <a:endParaRPr lang="en-US" dirty="0"/>
          </a:p>
        </p:txBody>
      </p:sp>
      <p:sp>
        <p:nvSpPr>
          <p:cNvPr id="6" name="TextBox 5">
            <a:extLst>
              <a:ext uri="{FF2B5EF4-FFF2-40B4-BE49-F238E27FC236}">
                <a16:creationId xmlns:a16="http://schemas.microsoft.com/office/drawing/2014/main" id="{ED21A0A0-3856-EA41-BFA1-B1DCA02FDDC1}"/>
              </a:ext>
            </a:extLst>
          </p:cNvPr>
          <p:cNvSpPr txBox="1"/>
          <p:nvPr/>
        </p:nvSpPr>
        <p:spPr>
          <a:xfrm>
            <a:off x="401591" y="1319011"/>
            <a:ext cx="5519853" cy="954107"/>
          </a:xfrm>
          <a:prstGeom prst="rect">
            <a:avLst/>
          </a:prstGeom>
          <a:noFill/>
        </p:spPr>
        <p:txBody>
          <a:bodyPr wrap="square" rtlCol="0">
            <a:spAutoFit/>
          </a:bodyPr>
          <a:lstStyle/>
          <a:p>
            <a:r>
              <a:rPr lang="en-US" dirty="0"/>
              <a:t>Genomics-based methods indirectly predict enhancer regions based on specific known properties of cis-regulatory elements but these </a:t>
            </a:r>
            <a:r>
              <a:rPr lang="en-US" b="1" dirty="0"/>
              <a:t>DNA sequences can also be directly tested for enhancer activity</a:t>
            </a:r>
          </a:p>
        </p:txBody>
      </p:sp>
    </p:spTree>
    <p:extLst>
      <p:ext uri="{BB962C8B-B14F-4D97-AF65-F5344CB8AC3E}">
        <p14:creationId xmlns:p14="http://schemas.microsoft.com/office/powerpoint/2010/main" val="170805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C9031-DE6F-2B43-A05B-F179F7485732}"/>
              </a:ext>
            </a:extLst>
          </p:cNvPr>
          <p:cNvSpPr>
            <a:spLocks noGrp="1"/>
          </p:cNvSpPr>
          <p:nvPr>
            <p:ph type="title"/>
          </p:nvPr>
        </p:nvSpPr>
        <p:spPr/>
        <p:txBody>
          <a:bodyPr/>
          <a:lstStyle/>
          <a:p>
            <a:r>
              <a:rPr lang="en-US" dirty="0"/>
              <a:t>Functional methods for enhancer identification</a:t>
            </a:r>
          </a:p>
        </p:txBody>
      </p:sp>
      <p:sp>
        <p:nvSpPr>
          <p:cNvPr id="5" name="TextBox 4">
            <a:extLst>
              <a:ext uri="{FF2B5EF4-FFF2-40B4-BE49-F238E27FC236}">
                <a16:creationId xmlns:a16="http://schemas.microsoft.com/office/drawing/2014/main" id="{D5FAB007-64F6-D143-AF8A-E9B479CA32F2}"/>
              </a:ext>
            </a:extLst>
          </p:cNvPr>
          <p:cNvSpPr txBox="1"/>
          <p:nvPr/>
        </p:nvSpPr>
        <p:spPr>
          <a:xfrm>
            <a:off x="524254" y="1796890"/>
            <a:ext cx="4739121" cy="4616648"/>
          </a:xfrm>
          <a:prstGeom prst="rect">
            <a:avLst/>
          </a:prstGeom>
          <a:noFill/>
        </p:spPr>
        <p:txBody>
          <a:bodyPr wrap="square" rtlCol="0">
            <a:spAutoFit/>
          </a:bodyPr>
          <a:lstStyle/>
          <a:p>
            <a:r>
              <a:rPr lang="en-US" b="1" u="sng" dirty="0"/>
              <a:t>Genome-wide functional enhancer screening:</a:t>
            </a:r>
          </a:p>
          <a:p>
            <a:endParaRPr lang="en-US" b="1" dirty="0"/>
          </a:p>
          <a:p>
            <a:r>
              <a:rPr lang="en-US" dirty="0"/>
              <a:t>Genome-wide enhancer testing can be accomplished with modern methods such as </a:t>
            </a:r>
            <a:r>
              <a:rPr lang="en-US" b="1" dirty="0"/>
              <a:t>MPRAs (massively parallel reporter assays)</a:t>
            </a:r>
            <a:r>
              <a:rPr lang="en-US" dirty="0"/>
              <a:t> or </a:t>
            </a:r>
            <a:r>
              <a:rPr lang="en-US" b="1" dirty="0"/>
              <a:t>STARR-seq (self-transcribing active regulatory region sequencing)</a:t>
            </a:r>
          </a:p>
          <a:p>
            <a:endParaRPr lang="en-US" b="1" dirty="0"/>
          </a:p>
          <a:p>
            <a:r>
              <a:rPr lang="en-US" dirty="0"/>
              <a:t>Plasmid libraries containing putative enhancer regions upstream of a minimal promoter driving unique barcodes can be introduced to a </a:t>
            </a:r>
            <a:r>
              <a:rPr lang="en-US" dirty="0" err="1"/>
              <a:t>celltype</a:t>
            </a:r>
            <a:r>
              <a:rPr lang="en-US" dirty="0"/>
              <a:t> of interest and deep sequencing of barcodes can be used as readout of enhancer activity</a:t>
            </a:r>
          </a:p>
          <a:p>
            <a:endParaRPr lang="en-US" dirty="0"/>
          </a:p>
          <a:p>
            <a:r>
              <a:rPr lang="en-US" dirty="0"/>
              <a:t>However, these techniques have several limitations:</a:t>
            </a:r>
          </a:p>
          <a:p>
            <a:pPr marL="285750" indent="-285750">
              <a:buFontTx/>
              <a:buChar char="-"/>
            </a:pPr>
            <a:r>
              <a:rPr lang="en-US" dirty="0"/>
              <a:t>lack of native chromatin context</a:t>
            </a:r>
          </a:p>
          <a:p>
            <a:pPr marL="285750" indent="-285750">
              <a:buFontTx/>
              <a:buChar char="-"/>
            </a:pPr>
            <a:r>
              <a:rPr lang="en-US" dirty="0"/>
              <a:t>use of general promoter (instead of enhancer-specific promoter)</a:t>
            </a:r>
          </a:p>
          <a:p>
            <a:pPr marL="285750" indent="-285750">
              <a:buFontTx/>
              <a:buChar char="-"/>
            </a:pPr>
            <a:r>
              <a:rPr lang="en-US" dirty="0"/>
              <a:t>only applicable to certain </a:t>
            </a:r>
            <a:r>
              <a:rPr lang="en-US" dirty="0" err="1"/>
              <a:t>celltypes</a:t>
            </a:r>
            <a:r>
              <a:rPr lang="en-US" dirty="0"/>
              <a:t> that can be efficiently transduced</a:t>
            </a:r>
          </a:p>
          <a:p>
            <a:pPr marL="285750" indent="-285750">
              <a:buFontTx/>
              <a:buChar char="-"/>
            </a:pPr>
            <a:endParaRPr lang="en-US" dirty="0"/>
          </a:p>
          <a:p>
            <a:endParaRPr lang="en-US" b="1" dirty="0"/>
          </a:p>
        </p:txBody>
      </p:sp>
      <p:pic>
        <p:nvPicPr>
          <p:cNvPr id="1026" name="Picture 2">
            <a:extLst>
              <a:ext uri="{FF2B5EF4-FFF2-40B4-BE49-F238E27FC236}">
                <a16:creationId xmlns:a16="http://schemas.microsoft.com/office/drawing/2014/main" id="{844D4803-C0EF-7B4A-8435-D566B1A77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129" y="1742955"/>
            <a:ext cx="6022431" cy="4318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17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EF7E9-779D-324B-AE3F-0676A5877D46}"/>
              </a:ext>
            </a:extLst>
          </p:cNvPr>
          <p:cNvSpPr>
            <a:spLocks noGrp="1"/>
          </p:cNvSpPr>
          <p:nvPr>
            <p:ph type="title"/>
          </p:nvPr>
        </p:nvSpPr>
        <p:spPr/>
        <p:txBody>
          <a:bodyPr/>
          <a:lstStyle/>
          <a:p>
            <a:r>
              <a:rPr lang="en-US" dirty="0"/>
              <a:t>Manipulation of </a:t>
            </a:r>
            <a:r>
              <a:rPr lang="en-US" dirty="0" err="1"/>
              <a:t>endogeneous</a:t>
            </a:r>
            <a:r>
              <a:rPr lang="en-US" dirty="0"/>
              <a:t> enhancer activity</a:t>
            </a:r>
          </a:p>
        </p:txBody>
      </p:sp>
      <p:sp>
        <p:nvSpPr>
          <p:cNvPr id="3" name="TextBox 2">
            <a:extLst>
              <a:ext uri="{FF2B5EF4-FFF2-40B4-BE49-F238E27FC236}">
                <a16:creationId xmlns:a16="http://schemas.microsoft.com/office/drawing/2014/main" id="{6A4CDA79-ED46-B74A-BC5D-2E0C3B4C3ECD}"/>
              </a:ext>
            </a:extLst>
          </p:cNvPr>
          <p:cNvSpPr txBox="1"/>
          <p:nvPr/>
        </p:nvSpPr>
        <p:spPr>
          <a:xfrm>
            <a:off x="408878" y="5430644"/>
            <a:ext cx="11374244" cy="1600438"/>
          </a:xfrm>
          <a:prstGeom prst="rect">
            <a:avLst/>
          </a:prstGeom>
          <a:noFill/>
        </p:spPr>
        <p:txBody>
          <a:bodyPr wrap="square" rtlCol="0">
            <a:spAutoFit/>
          </a:bodyPr>
          <a:lstStyle/>
          <a:p>
            <a:r>
              <a:rPr lang="en-US" dirty="0"/>
              <a:t>The CRISPR-Cas platform can be used to recruit transcription factors, transcriptional machinery, and/or co-activators to any locus in the genome to interrogate </a:t>
            </a:r>
            <a:r>
              <a:rPr lang="en-US" dirty="0" err="1"/>
              <a:t>endogeneous</a:t>
            </a:r>
            <a:r>
              <a:rPr lang="en-US" dirty="0"/>
              <a:t> enhancer activity (Figure A)</a:t>
            </a:r>
          </a:p>
          <a:p>
            <a:endParaRPr lang="en-US" dirty="0"/>
          </a:p>
          <a:p>
            <a:r>
              <a:rPr lang="en-US" dirty="0"/>
              <a:t>Reporter genes can selectively be inserted into enhancers in different chromatin states to assess functional activity (Figure B)</a:t>
            </a:r>
          </a:p>
          <a:p>
            <a:endParaRPr lang="en-US" dirty="0"/>
          </a:p>
          <a:p>
            <a:endParaRPr lang="en-US" dirty="0"/>
          </a:p>
          <a:p>
            <a:endParaRPr lang="en-US" dirty="0"/>
          </a:p>
        </p:txBody>
      </p:sp>
      <p:pic>
        <p:nvPicPr>
          <p:cNvPr id="5" name="Picture 4" descr="Diagram&#10;&#10;Description automatically generated">
            <a:extLst>
              <a:ext uri="{FF2B5EF4-FFF2-40B4-BE49-F238E27FC236}">
                <a16:creationId xmlns:a16="http://schemas.microsoft.com/office/drawing/2014/main" id="{28E0642C-33F1-4946-9CD2-E8094F6996D2}"/>
              </a:ext>
            </a:extLst>
          </p:cNvPr>
          <p:cNvPicPr>
            <a:picLocks noChangeAspect="1"/>
          </p:cNvPicPr>
          <p:nvPr/>
        </p:nvPicPr>
        <p:blipFill>
          <a:blip r:embed="rId2"/>
          <a:stretch>
            <a:fillRect/>
          </a:stretch>
        </p:blipFill>
        <p:spPr>
          <a:xfrm>
            <a:off x="2352413" y="1222482"/>
            <a:ext cx="7487174" cy="3994855"/>
          </a:xfrm>
          <a:prstGeom prst="rect">
            <a:avLst/>
          </a:prstGeom>
        </p:spPr>
      </p:pic>
    </p:spTree>
    <p:extLst>
      <p:ext uri="{BB962C8B-B14F-4D97-AF65-F5344CB8AC3E}">
        <p14:creationId xmlns:p14="http://schemas.microsoft.com/office/powerpoint/2010/main" val="55516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14B1-FBA8-004A-A7F4-580E5C173B5C}"/>
              </a:ext>
            </a:extLst>
          </p:cNvPr>
          <p:cNvSpPr>
            <a:spLocks noGrp="1"/>
          </p:cNvSpPr>
          <p:nvPr>
            <p:ph type="title"/>
          </p:nvPr>
        </p:nvSpPr>
        <p:spPr>
          <a:xfrm>
            <a:off x="467833" y="2879524"/>
            <a:ext cx="10885967" cy="1098951"/>
          </a:xfrm>
        </p:spPr>
        <p:txBody>
          <a:bodyPr>
            <a:normAutofit fontScale="90000"/>
          </a:bodyPr>
          <a:lstStyle/>
          <a:p>
            <a:pPr algn="ctr"/>
            <a:r>
              <a:rPr lang="en-US" sz="4400" dirty="0"/>
              <a:t>How can we predict functional enhancers </a:t>
            </a:r>
            <a:r>
              <a:rPr lang="en-US" sz="4400" i="1" dirty="0"/>
              <a:t>in silico</a:t>
            </a:r>
            <a:r>
              <a:rPr lang="en-US" sz="4400" dirty="0"/>
              <a:t>?</a:t>
            </a:r>
          </a:p>
        </p:txBody>
      </p:sp>
    </p:spTree>
    <p:extLst>
      <p:ext uri="{BB962C8B-B14F-4D97-AF65-F5344CB8AC3E}">
        <p14:creationId xmlns:p14="http://schemas.microsoft.com/office/powerpoint/2010/main" val="3296680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82"/>
          <p:cNvSpPr txBox="1">
            <a:spLocks noGrp="1"/>
          </p:cNvSpPr>
          <p:nvPr>
            <p:ph type="title"/>
          </p:nvPr>
        </p:nvSpPr>
        <p:spPr>
          <a:xfrm>
            <a:off x="443116" y="276116"/>
            <a:ext cx="9492621" cy="1098800"/>
          </a:xfrm>
          <a:prstGeom prst="rect">
            <a:avLst/>
          </a:prstGeom>
        </p:spPr>
        <p:txBody>
          <a:bodyPr spcFirstLastPara="1" wrap="square" lIns="91433" tIns="45700" rIns="91433" bIns="45700" anchor="t" anchorCtr="0">
            <a:normAutofit/>
          </a:bodyPr>
          <a:lstStyle/>
          <a:p>
            <a:r>
              <a:rPr lang="en" dirty="0"/>
              <a:t>Developing a simple pipeline for enhancer identification using publicly available ENCODE data</a:t>
            </a:r>
            <a:endParaRPr dirty="0"/>
          </a:p>
        </p:txBody>
      </p:sp>
      <p:sp>
        <p:nvSpPr>
          <p:cNvPr id="2" name="TextBox 1">
            <a:extLst>
              <a:ext uri="{FF2B5EF4-FFF2-40B4-BE49-F238E27FC236}">
                <a16:creationId xmlns:a16="http://schemas.microsoft.com/office/drawing/2014/main" id="{A1276EC4-B502-144E-8405-014872E4C670}"/>
              </a:ext>
            </a:extLst>
          </p:cNvPr>
          <p:cNvSpPr txBox="1"/>
          <p:nvPr/>
        </p:nvSpPr>
        <p:spPr>
          <a:xfrm>
            <a:off x="525517" y="1645861"/>
            <a:ext cx="11140966" cy="4154984"/>
          </a:xfrm>
          <a:prstGeom prst="rect">
            <a:avLst/>
          </a:prstGeom>
          <a:noFill/>
        </p:spPr>
        <p:txBody>
          <a:bodyPr wrap="square" rtlCol="0">
            <a:spAutoFit/>
          </a:bodyPr>
          <a:lstStyle/>
          <a:p>
            <a:r>
              <a:rPr lang="en-US" sz="2000" b="1" dirty="0"/>
              <a:t>Datasets:</a:t>
            </a:r>
          </a:p>
          <a:p>
            <a:endParaRPr lang="en-US" dirty="0"/>
          </a:p>
          <a:p>
            <a:r>
              <a:rPr lang="en-US" dirty="0"/>
              <a:t>Downloaded publicly available datasets from ENCODE:</a:t>
            </a:r>
          </a:p>
          <a:p>
            <a:r>
              <a:rPr lang="en-US" dirty="0"/>
              <a:t>	-RNA-seq (gene expression)</a:t>
            </a:r>
          </a:p>
          <a:p>
            <a:r>
              <a:rPr lang="en-US" dirty="0"/>
              <a:t>	-ATAC-seq/</a:t>
            </a:r>
            <a:r>
              <a:rPr lang="en-US" dirty="0" err="1"/>
              <a:t>DNAse</a:t>
            </a:r>
            <a:r>
              <a:rPr lang="en-US" dirty="0"/>
              <a:t>-seq (chromatin accessibility)</a:t>
            </a:r>
          </a:p>
          <a:p>
            <a:r>
              <a:rPr lang="en-US" dirty="0"/>
              <a:t>	-H3K27ac </a:t>
            </a:r>
            <a:r>
              <a:rPr lang="en-US" dirty="0" err="1"/>
              <a:t>ChIP</a:t>
            </a:r>
            <a:r>
              <a:rPr lang="en-US" dirty="0"/>
              <a:t>-seq (enhancer activation histone mark)</a:t>
            </a:r>
          </a:p>
          <a:p>
            <a:r>
              <a:rPr lang="en-US" dirty="0"/>
              <a:t>	</a:t>
            </a:r>
            <a:r>
              <a:rPr lang="en-US" i="1" dirty="0"/>
              <a:t>-p300 </a:t>
            </a:r>
            <a:r>
              <a:rPr lang="en-US" i="1" dirty="0" err="1"/>
              <a:t>ChIP</a:t>
            </a:r>
            <a:r>
              <a:rPr lang="en-US" i="1" dirty="0"/>
              <a:t>-seq (TF involved in enhancer-mediated transcription)</a:t>
            </a:r>
          </a:p>
          <a:p>
            <a:r>
              <a:rPr lang="en-US" dirty="0"/>
              <a:t>	-18 state </a:t>
            </a:r>
            <a:r>
              <a:rPr lang="en-US" dirty="0" err="1"/>
              <a:t>ChromHMM</a:t>
            </a:r>
            <a:r>
              <a:rPr lang="en-US" dirty="0"/>
              <a:t> annotation</a:t>
            </a:r>
          </a:p>
          <a:p>
            <a:endParaRPr lang="en-US" dirty="0"/>
          </a:p>
          <a:p>
            <a:endParaRPr lang="en-US" dirty="0"/>
          </a:p>
          <a:p>
            <a:endParaRPr lang="en-US" b="1" dirty="0"/>
          </a:p>
          <a:p>
            <a:r>
              <a:rPr lang="en-US" sz="2000" b="1" dirty="0"/>
              <a:t>Pipeline:</a:t>
            </a:r>
          </a:p>
          <a:p>
            <a:endParaRPr lang="en-US" b="1" dirty="0"/>
          </a:p>
          <a:p>
            <a:r>
              <a:rPr lang="en-US" dirty="0"/>
              <a:t>-First, I identified a large set of potential enhancers by looking at accessible chromatin peaks that are either intronic or distal/intergenic</a:t>
            </a:r>
          </a:p>
          <a:p>
            <a:r>
              <a:rPr lang="en-US" dirty="0"/>
              <a:t>-I then subset this list to only include peaks that overlap one of the 5 ”enhancer” annotations in the 18-state </a:t>
            </a:r>
            <a:r>
              <a:rPr lang="en-US" dirty="0" err="1"/>
              <a:t>ChromHMM</a:t>
            </a:r>
            <a:r>
              <a:rPr lang="en-US" dirty="0"/>
              <a:t> profile</a:t>
            </a:r>
          </a:p>
          <a:p>
            <a:r>
              <a:rPr lang="en-US" dirty="0"/>
              <a:t>-I further subset this list to only include peaks that overlap H3K27ac </a:t>
            </a:r>
            <a:r>
              <a:rPr lang="en-US" dirty="0" err="1"/>
              <a:t>ChIP</a:t>
            </a:r>
            <a:r>
              <a:rPr lang="en-US" dirty="0"/>
              <a:t>-seq peaks</a:t>
            </a:r>
          </a:p>
          <a:p>
            <a:r>
              <a:rPr lang="en-US" dirty="0"/>
              <a:t>-To maximize odds of correct enhancer-gene annotations, I then exclude any putative enhancer further than 10 kB from a TSS</a:t>
            </a:r>
          </a:p>
          <a:p>
            <a:endParaRPr lang="en-US" dirty="0"/>
          </a:p>
        </p:txBody>
      </p:sp>
    </p:spTree>
    <p:extLst>
      <p:ext uri="{BB962C8B-B14F-4D97-AF65-F5344CB8AC3E}">
        <p14:creationId xmlns:p14="http://schemas.microsoft.com/office/powerpoint/2010/main" val="414231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3" end="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4" end="1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5" end="1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0C33-E804-E54A-80ED-83F9E1D35F0C}"/>
              </a:ext>
            </a:extLst>
          </p:cNvPr>
          <p:cNvSpPr>
            <a:spLocks noGrp="1"/>
          </p:cNvSpPr>
          <p:nvPr>
            <p:ph type="title"/>
          </p:nvPr>
        </p:nvSpPr>
        <p:spPr/>
        <p:txBody>
          <a:bodyPr/>
          <a:lstStyle/>
          <a:p>
            <a:r>
              <a:rPr lang="en-US" dirty="0"/>
              <a:t>Predicting enhancers is not straightforward</a:t>
            </a:r>
          </a:p>
        </p:txBody>
      </p:sp>
      <p:sp>
        <p:nvSpPr>
          <p:cNvPr id="3" name="TextBox 2">
            <a:extLst>
              <a:ext uri="{FF2B5EF4-FFF2-40B4-BE49-F238E27FC236}">
                <a16:creationId xmlns:a16="http://schemas.microsoft.com/office/drawing/2014/main" id="{B1D58157-1993-CE4C-8AFA-BFB8CDAA4E83}"/>
              </a:ext>
            </a:extLst>
          </p:cNvPr>
          <p:cNvSpPr txBox="1"/>
          <p:nvPr/>
        </p:nvSpPr>
        <p:spPr>
          <a:xfrm>
            <a:off x="602670" y="2141338"/>
            <a:ext cx="10783614" cy="3108543"/>
          </a:xfrm>
          <a:prstGeom prst="rect">
            <a:avLst/>
          </a:prstGeom>
          <a:noFill/>
        </p:spPr>
        <p:txBody>
          <a:bodyPr wrap="square" rtlCol="0">
            <a:spAutoFit/>
          </a:bodyPr>
          <a:lstStyle/>
          <a:p>
            <a:r>
              <a:rPr lang="en-US" dirty="0"/>
              <a:t>“Enhancers and their activity states cannot be reliably predicted from their DNA sequences or from chromatin features, nor can the important parts of the sequence of an enhancer be easily identified”</a:t>
            </a:r>
          </a:p>
          <a:p>
            <a:endParaRPr lang="en-US" dirty="0"/>
          </a:p>
          <a:p>
            <a:endParaRPr lang="en-US" dirty="0"/>
          </a:p>
          <a:p>
            <a:endParaRPr lang="en-US" dirty="0"/>
          </a:p>
          <a:p>
            <a:r>
              <a:rPr lang="en-US" dirty="0"/>
              <a:t>“Given the widespread use of histone modifications to predict enhancers, it is interesting that there is </a:t>
            </a:r>
            <a:r>
              <a:rPr lang="en-US" b="1" dirty="0"/>
              <a:t>no consensus </a:t>
            </a:r>
            <a:r>
              <a:rPr lang="en-US" dirty="0"/>
              <a:t>about which marks should be used. […] Generally, the rules used to predict enhancers seem to be driven by the availability of data sets”</a:t>
            </a:r>
          </a:p>
          <a:p>
            <a:endParaRPr lang="en-US" dirty="0"/>
          </a:p>
          <a:p>
            <a:endParaRPr lang="en-US" dirty="0"/>
          </a:p>
          <a:p>
            <a:endParaRPr lang="en-US" dirty="0"/>
          </a:p>
          <a:p>
            <a:r>
              <a:rPr lang="en-US" dirty="0"/>
              <a:t>“None of the known histone modifications correlates perfectly with enhancer activity, and even combinations of marks are not perfect predictors”</a:t>
            </a:r>
          </a:p>
          <a:p>
            <a:endParaRPr lang="en-US" dirty="0"/>
          </a:p>
          <a:p>
            <a:endParaRPr lang="en-US" dirty="0"/>
          </a:p>
        </p:txBody>
      </p:sp>
      <p:sp>
        <p:nvSpPr>
          <p:cNvPr id="4" name="Rectangle 3">
            <a:extLst>
              <a:ext uri="{FF2B5EF4-FFF2-40B4-BE49-F238E27FC236}">
                <a16:creationId xmlns:a16="http://schemas.microsoft.com/office/drawing/2014/main" id="{F1906D1B-33BA-834C-A630-F18260D59680}"/>
              </a:ext>
            </a:extLst>
          </p:cNvPr>
          <p:cNvSpPr/>
          <p:nvPr/>
        </p:nvSpPr>
        <p:spPr>
          <a:xfrm>
            <a:off x="9581537" y="6330163"/>
            <a:ext cx="2534668" cy="307777"/>
          </a:xfrm>
          <a:prstGeom prst="rect">
            <a:avLst/>
          </a:prstGeom>
        </p:spPr>
        <p:txBody>
          <a:bodyPr wrap="none">
            <a:spAutoFit/>
          </a:bodyPr>
          <a:lstStyle/>
          <a:p>
            <a:r>
              <a:rPr lang="en-US" dirty="0"/>
              <a:t>(</a:t>
            </a:r>
            <a:r>
              <a:rPr lang="en-US" dirty="0" err="1"/>
              <a:t>Shlyueva</a:t>
            </a:r>
            <a:r>
              <a:rPr lang="en-US" dirty="0"/>
              <a:t>, </a:t>
            </a:r>
            <a:r>
              <a:rPr lang="en-US" dirty="0" err="1"/>
              <a:t>Stampfel</a:t>
            </a:r>
            <a:r>
              <a:rPr lang="en-US" dirty="0"/>
              <a:t>, &amp; Stark)</a:t>
            </a:r>
          </a:p>
        </p:txBody>
      </p:sp>
    </p:spTree>
    <p:extLst>
      <p:ext uri="{BB962C8B-B14F-4D97-AF65-F5344CB8AC3E}">
        <p14:creationId xmlns:p14="http://schemas.microsoft.com/office/powerpoint/2010/main" val="409737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82"/>
          <p:cNvSpPr txBox="1">
            <a:spLocks noGrp="1"/>
          </p:cNvSpPr>
          <p:nvPr>
            <p:ph type="title"/>
          </p:nvPr>
        </p:nvSpPr>
        <p:spPr>
          <a:xfrm>
            <a:off x="443116" y="412750"/>
            <a:ext cx="10515600" cy="1098800"/>
          </a:xfrm>
          <a:prstGeom prst="rect">
            <a:avLst/>
          </a:prstGeom>
        </p:spPr>
        <p:txBody>
          <a:bodyPr spcFirstLastPara="1" wrap="square" lIns="91433" tIns="45700" rIns="91433" bIns="45700" anchor="t" anchorCtr="0">
            <a:normAutofit/>
          </a:bodyPr>
          <a:lstStyle/>
          <a:p>
            <a:r>
              <a:rPr lang="en" dirty="0"/>
              <a:t>Including all possible data sources for enhancer prediction</a:t>
            </a:r>
            <a:endParaRPr dirty="0"/>
          </a:p>
        </p:txBody>
      </p:sp>
      <p:sp>
        <p:nvSpPr>
          <p:cNvPr id="2" name="TextBox 1">
            <a:extLst>
              <a:ext uri="{FF2B5EF4-FFF2-40B4-BE49-F238E27FC236}">
                <a16:creationId xmlns:a16="http://schemas.microsoft.com/office/drawing/2014/main" id="{A1276EC4-B502-144E-8405-014872E4C670}"/>
              </a:ext>
            </a:extLst>
          </p:cNvPr>
          <p:cNvSpPr txBox="1"/>
          <p:nvPr/>
        </p:nvSpPr>
        <p:spPr>
          <a:xfrm>
            <a:off x="525517" y="1511550"/>
            <a:ext cx="11140966" cy="3847207"/>
          </a:xfrm>
          <a:prstGeom prst="rect">
            <a:avLst/>
          </a:prstGeom>
          <a:noFill/>
        </p:spPr>
        <p:txBody>
          <a:bodyPr wrap="square" rtlCol="0">
            <a:spAutoFit/>
          </a:bodyPr>
          <a:lstStyle/>
          <a:p>
            <a:r>
              <a:rPr lang="en-US" sz="2000" b="1" dirty="0"/>
              <a:t>Datasets:</a:t>
            </a:r>
          </a:p>
          <a:p>
            <a:endParaRPr lang="en-US" dirty="0"/>
          </a:p>
          <a:p>
            <a:r>
              <a:rPr lang="en-US" dirty="0"/>
              <a:t>Downloaded publicly available datasets from ENCODE:</a:t>
            </a:r>
          </a:p>
          <a:p>
            <a:r>
              <a:rPr lang="en-US" dirty="0"/>
              <a:t>	-18 state </a:t>
            </a:r>
            <a:r>
              <a:rPr lang="en-US" dirty="0" err="1"/>
              <a:t>ChromHMM</a:t>
            </a:r>
            <a:r>
              <a:rPr lang="en-US" dirty="0"/>
              <a:t> annotation</a:t>
            </a:r>
          </a:p>
          <a:p>
            <a:r>
              <a:rPr lang="en-US" dirty="0"/>
              <a:t>	-ATAC-seq (chromatin accessibility)</a:t>
            </a:r>
          </a:p>
          <a:p>
            <a:r>
              <a:rPr lang="en-US" dirty="0"/>
              <a:t>	-H3K27ac </a:t>
            </a:r>
            <a:r>
              <a:rPr lang="en-US" dirty="0" err="1"/>
              <a:t>ChIP</a:t>
            </a:r>
            <a:r>
              <a:rPr lang="en-US" dirty="0"/>
              <a:t>-seq (enhancer histone mark)</a:t>
            </a:r>
          </a:p>
          <a:p>
            <a:r>
              <a:rPr lang="en-US" dirty="0"/>
              <a:t>	-H3K4me1 </a:t>
            </a:r>
            <a:r>
              <a:rPr lang="en-US" dirty="0" err="1"/>
              <a:t>ChIP</a:t>
            </a:r>
            <a:r>
              <a:rPr lang="en-US" dirty="0"/>
              <a:t>-seq (enhancer histone mark)</a:t>
            </a:r>
          </a:p>
          <a:p>
            <a:r>
              <a:rPr lang="en-US" dirty="0"/>
              <a:t>	-p300 </a:t>
            </a:r>
            <a:r>
              <a:rPr lang="en-US" dirty="0" err="1"/>
              <a:t>ChIP</a:t>
            </a:r>
            <a:r>
              <a:rPr lang="en-US" dirty="0"/>
              <a:t>-seq (histone acetyltransferase mark)</a:t>
            </a:r>
          </a:p>
          <a:p>
            <a:r>
              <a:rPr lang="en-US" dirty="0"/>
              <a:t>	-Med1 </a:t>
            </a:r>
            <a:r>
              <a:rPr lang="en-US" dirty="0" err="1"/>
              <a:t>ChIP</a:t>
            </a:r>
            <a:r>
              <a:rPr lang="en-US" dirty="0"/>
              <a:t>-seq (Mediator – enhancer-promoter contact mark)</a:t>
            </a:r>
          </a:p>
          <a:p>
            <a:r>
              <a:rPr lang="en-US" dirty="0"/>
              <a:t>	-Rad21 </a:t>
            </a:r>
            <a:r>
              <a:rPr lang="en-US" dirty="0" err="1"/>
              <a:t>ChIP</a:t>
            </a:r>
            <a:r>
              <a:rPr lang="en-US" dirty="0"/>
              <a:t>-seq (</a:t>
            </a:r>
            <a:r>
              <a:rPr lang="en-US" dirty="0" err="1"/>
              <a:t>Cohesin</a:t>
            </a:r>
            <a:r>
              <a:rPr lang="en-US" dirty="0"/>
              <a:t> – enhancer-promoter contact mark)</a:t>
            </a:r>
          </a:p>
          <a:p>
            <a:r>
              <a:rPr lang="en-US" dirty="0"/>
              <a:t>	-POL2RA </a:t>
            </a:r>
            <a:r>
              <a:rPr lang="en-US" dirty="0" err="1"/>
              <a:t>ChiA</a:t>
            </a:r>
            <a:r>
              <a:rPr lang="en-US" dirty="0"/>
              <a:t>-PET (RNA Polymerase II – enhancer-promoter looping)</a:t>
            </a:r>
          </a:p>
          <a:p>
            <a:endParaRPr lang="en-US" dirty="0"/>
          </a:p>
          <a:p>
            <a:r>
              <a:rPr lang="en-US" dirty="0"/>
              <a:t>	-hg38 20-way </a:t>
            </a:r>
            <a:r>
              <a:rPr lang="en-US" dirty="0" err="1"/>
              <a:t>PhastCon</a:t>
            </a:r>
            <a:r>
              <a:rPr lang="en-US" dirty="0"/>
              <a:t> scores (evolutionary conservation)</a:t>
            </a:r>
          </a:p>
          <a:p>
            <a:endParaRPr lang="en-US" dirty="0"/>
          </a:p>
          <a:p>
            <a:r>
              <a:rPr lang="en-US" dirty="0"/>
              <a:t>	-H3K27me3 (enhancers should not carry this mark)</a:t>
            </a:r>
          </a:p>
          <a:p>
            <a:endParaRPr lang="en-US" dirty="0"/>
          </a:p>
          <a:p>
            <a:r>
              <a:rPr lang="en-US" dirty="0"/>
              <a:t>	</a:t>
            </a:r>
          </a:p>
        </p:txBody>
      </p:sp>
    </p:spTree>
    <p:extLst>
      <p:ext uri="{BB962C8B-B14F-4D97-AF65-F5344CB8AC3E}">
        <p14:creationId xmlns:p14="http://schemas.microsoft.com/office/powerpoint/2010/main" val="1732445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419B-FBC0-B443-AF85-A2FF22CE334A}"/>
              </a:ext>
            </a:extLst>
          </p:cNvPr>
          <p:cNvSpPr>
            <a:spLocks noGrp="1"/>
          </p:cNvSpPr>
          <p:nvPr>
            <p:ph type="title"/>
          </p:nvPr>
        </p:nvSpPr>
        <p:spPr/>
        <p:txBody>
          <a:bodyPr/>
          <a:lstStyle/>
          <a:p>
            <a:r>
              <a:rPr lang="en" dirty="0"/>
              <a:t>Including all possible data sources for enhancer prediction</a:t>
            </a:r>
            <a:endParaRPr lang="en-US" dirty="0"/>
          </a:p>
        </p:txBody>
      </p:sp>
      <p:pic>
        <p:nvPicPr>
          <p:cNvPr id="5" name="Picture 4" descr="Graphical user interface, application&#10;&#10;Description automatically generated">
            <a:extLst>
              <a:ext uri="{FF2B5EF4-FFF2-40B4-BE49-F238E27FC236}">
                <a16:creationId xmlns:a16="http://schemas.microsoft.com/office/drawing/2014/main" id="{FEFD2CB7-9A36-7745-9B6C-902A877377FE}"/>
              </a:ext>
            </a:extLst>
          </p:cNvPr>
          <p:cNvPicPr>
            <a:picLocks noChangeAspect="1"/>
          </p:cNvPicPr>
          <p:nvPr/>
        </p:nvPicPr>
        <p:blipFill>
          <a:blip r:embed="rId2"/>
          <a:stretch>
            <a:fillRect/>
          </a:stretch>
        </p:blipFill>
        <p:spPr>
          <a:xfrm>
            <a:off x="585439" y="1319011"/>
            <a:ext cx="11021122" cy="5069600"/>
          </a:xfrm>
          <a:prstGeom prst="rect">
            <a:avLst/>
          </a:prstGeom>
        </p:spPr>
      </p:pic>
    </p:spTree>
    <p:extLst>
      <p:ext uri="{BB962C8B-B14F-4D97-AF65-F5344CB8AC3E}">
        <p14:creationId xmlns:p14="http://schemas.microsoft.com/office/powerpoint/2010/main" val="4236203790"/>
      </p:ext>
    </p:extLst>
  </p:cSld>
  <p:clrMapOvr>
    <a:masterClrMapping/>
  </p:clrMapOvr>
</p:sld>
</file>

<file path=ppt/theme/theme1.xml><?xml version="1.0" encoding="utf-8"?>
<a:theme xmlns:a="http://schemas.openxmlformats.org/drawingml/2006/main" name="Office Theme">
  <a:themeElements>
    <a:clrScheme name="EpicBio">
      <a:dk1>
        <a:srgbClr val="005270"/>
      </a:dk1>
      <a:lt1>
        <a:srgbClr val="FFFFFF"/>
      </a:lt1>
      <a:dk2>
        <a:srgbClr val="42413D"/>
      </a:dk2>
      <a:lt2>
        <a:srgbClr val="B0B1B0"/>
      </a:lt2>
      <a:accent1>
        <a:srgbClr val="00AAAB"/>
      </a:accent1>
      <a:accent2>
        <a:srgbClr val="E0D049"/>
      </a:accent2>
      <a:accent3>
        <a:srgbClr val="4D7740"/>
      </a:accent3>
      <a:accent4>
        <a:srgbClr val="65376B"/>
      </a:accent4>
      <a:accent5>
        <a:srgbClr val="ADDADA"/>
      </a:accent5>
      <a:accent6>
        <a:srgbClr val="4D9F5D"/>
      </a:accent6>
      <a:hlink>
        <a:srgbClr val="01425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17304</TotalTime>
  <Words>1337</Words>
  <Application>Microsoft Macintosh PowerPoint</Application>
  <PresentationFormat>Widescreen</PresentationFormat>
  <Paragraphs>165</Paragraphs>
  <Slides>20</Slides>
  <Notes>3</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Arial</vt:lpstr>
      <vt:lpstr>Open Sans</vt:lpstr>
      <vt:lpstr>Office Theme</vt:lpstr>
      <vt:lpstr>PowerPoint Presentation</vt:lpstr>
      <vt:lpstr>What are enhancers?</vt:lpstr>
      <vt:lpstr>Basic biology of transcriptional enhancers</vt:lpstr>
      <vt:lpstr>Characteristics of transcriptional enhancers</vt:lpstr>
      <vt:lpstr>Why do we care about enhancers?</vt:lpstr>
      <vt:lpstr>How are enhancers experimentally identified?</vt:lpstr>
      <vt:lpstr>How are enhancers experimentally identified?</vt:lpstr>
      <vt:lpstr>Genomic methods for enhancer identification</vt:lpstr>
      <vt:lpstr>Genomic methods for enhancer identification</vt:lpstr>
      <vt:lpstr>Example: Enhancer-promoter looping with RNA Polymerase II</vt:lpstr>
      <vt:lpstr>ChromHMM: Integrating multiple histone marks across diverse tissues into to annotate chromatin states genome-wide</vt:lpstr>
      <vt:lpstr>How are enhancers experimentally identified?</vt:lpstr>
      <vt:lpstr>Functional methods for enhancer identification</vt:lpstr>
      <vt:lpstr>Functional methods for enhancer identification</vt:lpstr>
      <vt:lpstr>Manipulation of endogeneous enhancer activity</vt:lpstr>
      <vt:lpstr>How can we predict functional enhancers in silico?</vt:lpstr>
      <vt:lpstr>Developing a simple pipeline for enhancer identification using publicly available ENCODE data</vt:lpstr>
      <vt:lpstr>Predicting enhancers is not straightforward</vt:lpstr>
      <vt:lpstr>Including all possible data sources for enhancer prediction</vt:lpstr>
      <vt:lpstr>Including all possible data sources for enhancer prediction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Jackson</dc:creator>
  <cp:lastModifiedBy>Robin Yeo</cp:lastModifiedBy>
  <cp:revision>186</cp:revision>
  <dcterms:created xsi:type="dcterms:W3CDTF">2021-02-08T13:32:41Z</dcterms:created>
  <dcterms:modified xsi:type="dcterms:W3CDTF">2026-04-13T06:00:48Z</dcterms:modified>
</cp:coreProperties>
</file>